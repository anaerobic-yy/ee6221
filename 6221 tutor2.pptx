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7" r:id="rId2"/>
    <p:sldId id="332" r:id="rId3"/>
    <p:sldId id="333" r:id="rId4"/>
    <p:sldId id="334" r:id="rId5"/>
    <p:sldId id="335" r:id="rId6"/>
    <p:sldId id="337" r:id="rId7"/>
    <p:sldId id="338" r:id="rId8"/>
    <p:sldId id="339" r:id="rId9"/>
    <p:sldId id="336" r:id="rId10"/>
    <p:sldId id="340" r:id="rId11"/>
    <p:sldId id="307" r:id="rId12"/>
    <p:sldId id="308" r:id="rId13"/>
    <p:sldId id="324" r:id="rId14"/>
    <p:sldId id="341" r:id="rId15"/>
    <p:sldId id="325" r:id="rId16"/>
    <p:sldId id="326" r:id="rId17"/>
    <p:sldId id="327" r:id="rId18"/>
    <p:sldId id="329" r:id="rId19"/>
    <p:sldId id="328" r:id="rId20"/>
    <p:sldId id="330" r:id="rId21"/>
    <p:sldId id="33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9" r:id="rId37"/>
    <p:sldId id="356" r:id="rId38"/>
    <p:sldId id="357" r:id="rId39"/>
    <p:sldId id="358" r:id="rId40"/>
    <p:sldId id="360" r:id="rId41"/>
    <p:sldId id="361" r:id="rId42"/>
    <p:sldId id="362" r:id="rId43"/>
    <p:sldId id="363" r:id="rId44"/>
    <p:sldId id="364" r:id="rId45"/>
    <p:sldId id="366" r:id="rId46"/>
    <p:sldId id="365" r:id="rId47"/>
    <p:sldId id="367" r:id="rId48"/>
    <p:sldId id="368" r:id="rId49"/>
    <p:sldId id="369" r:id="rId50"/>
    <p:sldId id="370" r:id="rId51"/>
    <p:sldId id="371" r:id="rId52"/>
    <p:sldId id="372" r:id="rId53"/>
    <p:sldId id="373" r:id="rId54"/>
    <p:sldId id="374" r:id="rId55"/>
    <p:sldId id="272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5909FF5-8119-4E54-B688-CEC5FCE440FF}">
          <p14:sldIdLst>
            <p14:sldId id="257"/>
            <p14:sldId id="332"/>
            <p14:sldId id="333"/>
            <p14:sldId id="334"/>
            <p14:sldId id="335"/>
            <p14:sldId id="337"/>
            <p14:sldId id="338"/>
            <p14:sldId id="339"/>
            <p14:sldId id="336"/>
            <p14:sldId id="340"/>
            <p14:sldId id="307"/>
            <p14:sldId id="308"/>
            <p14:sldId id="324"/>
            <p14:sldId id="341"/>
            <p14:sldId id="325"/>
            <p14:sldId id="326"/>
            <p14:sldId id="327"/>
            <p14:sldId id="329"/>
            <p14:sldId id="328"/>
            <p14:sldId id="330"/>
            <p14:sldId id="33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9"/>
            <p14:sldId id="356"/>
            <p14:sldId id="357"/>
            <p14:sldId id="358"/>
            <p14:sldId id="360"/>
            <p14:sldId id="361"/>
            <p14:sldId id="362"/>
            <p14:sldId id="363"/>
            <p14:sldId id="364"/>
            <p14:sldId id="366"/>
            <p14:sldId id="365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107" autoAdjust="0"/>
  </p:normalViewPr>
  <p:slideViewPr>
    <p:cSldViewPr snapToGrid="0">
      <p:cViewPr varScale="1">
        <p:scale>
          <a:sx n="49" d="100"/>
          <a:sy n="49" d="100"/>
        </p:scale>
        <p:origin x="1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4CE6B-7453-449C-AA21-C5B1F0268AD3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992A-CB1A-471A-A82E-C379A4FF04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30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</a:t>
            </a:r>
            <a:r>
              <a:rPr lang="en-US" altLang="zh-CN" dirty="0" err="1"/>
              <a:t>abc</a:t>
            </a:r>
            <a:r>
              <a:rPr lang="zh-CN" altLang="en-US" dirty="0"/>
              <a:t>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596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65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15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准确率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精确率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819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0BDE-8171-846C-E6EC-408D3B1D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F6B947-69AC-8570-E7C3-1FB017D5A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51F841-56F2-B433-B806-B3E082E2A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线性条件，高斯白噪声</a:t>
            </a:r>
            <a:endParaRPr lang="en-US" altLang="zh-CN" dirty="0"/>
          </a:p>
          <a:p>
            <a:r>
              <a:rPr lang="zh-CN" altLang="en-US" dirty="0"/>
              <a:t>统计最优解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E0917-E9EA-67C5-8C3C-4F241EC8D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004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95BA-D747-E91C-A5C3-879101EF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AF0D2F-16EF-7167-D837-1A5EADF5E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C3713E-10DF-8DC5-F9B4-D54F8C26E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224B23-4943-8133-0997-F2E4C2AAF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61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AE1D-9701-14F1-3290-B76EBEA6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5F1D38-6A57-82B3-37A5-5C5BC2266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14AE14-2958-0397-61B3-332E6B2B1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2137D1-261B-DAB7-68CE-039237A6D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399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177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624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569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36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723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固定标准轮：</a:t>
            </a:r>
            <a:r>
              <a:rPr lang="zh-CN" altLang="en-US" dirty="0">
                <a:effectLst/>
              </a:rPr>
              <a:t>只能沿轮平面往复运动。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l: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轮子中点到世界坐标轴原点的距离，相当于轮子滚动半径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是轮子中心到原点的连线与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轴正方向的夹角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通过右手定则确定，是参考点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到轮轴中点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的连线和轮轴轴线（右手定则确定）的夹角，逆时针为正。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09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F17A-9A92-128E-CAA4-32C06906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DA7738-D9A4-3513-7650-EB68C7AA1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A88ABD-98E0-1D1D-4154-D945670C0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标准轮的滚动约束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通过右手定则确定，是参考点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到轮轴中点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的连线和轮轴轴线（右手定则确定）的夹角，逆时针为正。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投影法：沿着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方向做因式分解，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这三个速度在滚动方向上的合成速度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指的是轮子绕参考点的转动速度，角速度在轮子原点带来转动速度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5DEC7F-D152-91F2-7032-8EF125C5E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271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1113-9B2F-295C-96F8-316EB698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79D9E1-F65C-AAB1-2A0B-08608F250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73648F-4842-9A86-C1EA-37EE6A099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1E23A7-7E2A-0156-2F05-EEEF893F4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755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26BF-A8FA-2EFC-AB51-1D53B3C8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913101-6EF5-08C0-E6FE-9D0BA664D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E899BF-59E2-F824-6F0E-E3F35F997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E0C79B-9D4F-5D2A-9018-4DA539146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036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转向标准轮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727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脚轮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672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D7F7-6D58-E14E-2AA0-66AAA0A7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28A5AA-3916-F697-514B-C18F9B37C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6735E9-D7A3-0920-D2B8-2CEDC8C78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脚轮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FF8ABD-820B-390E-617F-49D308531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194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前三个待求，后三个已知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65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两种方法。公式和投影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662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214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9721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6545-9D17-7B10-4AA3-1239A304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DFCF79-8A90-8AC8-6327-0A8FBC494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1F756A-756F-3CF1-9933-3BC7797E7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先判断移动方向，得到轮子的滚动和滑动坐标轴</a:t>
            </a:r>
            <a:endParaRPr lang="en-US" altLang="zh-CN" dirty="0"/>
          </a:p>
          <a:p>
            <a:r>
              <a:rPr lang="zh-CN" altLang="en-US" dirty="0"/>
              <a:t>蓝色线是世界坐标原点和轮子中心的连线</a:t>
            </a:r>
            <a:endParaRPr lang="en-US" altLang="zh-CN" dirty="0"/>
          </a:p>
          <a:p>
            <a:r>
              <a:rPr lang="zh-CN" altLang="en-US" dirty="0"/>
              <a:t>橙色是轮子的滑动方向</a:t>
            </a:r>
            <a:endParaRPr lang="en-US" altLang="zh-CN" dirty="0"/>
          </a:p>
          <a:p>
            <a:r>
              <a:rPr lang="zh-CN" altLang="en-US" dirty="0"/>
              <a:t>注意方向问题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B714E-EFD3-D8F4-7FA3-6CEC98725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530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99058-D280-669C-6984-2EA59FB4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C698C2-6B2C-7C8A-9CF5-106FE1B64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2E21EE-2465-2AF1-EEEE-C02283A09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F8AD98-9DF8-CDD9-D14F-1219E0907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9396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285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70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9419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误差</a:t>
            </a:r>
            <a:r>
              <a:rPr lang="en-US" altLang="zh-CN" dirty="0"/>
              <a:t>=</a:t>
            </a:r>
            <a:r>
              <a:rPr lang="zh-CN" altLang="en-US" dirty="0"/>
              <a:t>测量</a:t>
            </a:r>
            <a:r>
              <a:rPr lang="en-US" altLang="zh-CN" dirty="0"/>
              <a:t>-</a:t>
            </a:r>
            <a:r>
              <a:rPr lang="zh-CN" altLang="en-US" dirty="0"/>
              <a:t>估计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0348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只有不相关的随机变量才可以使用</a:t>
            </a:r>
            <a:endParaRPr lang="en-US" altLang="zh-CN" dirty="0"/>
          </a:p>
          <a:p>
            <a:r>
              <a:rPr lang="zh-CN" altLang="en-US" dirty="0"/>
              <a:t>因此</a:t>
            </a:r>
            <a:r>
              <a:rPr lang="en-US" altLang="zh-CN" dirty="0" err="1"/>
              <a:t>x_k</a:t>
            </a:r>
            <a:r>
              <a:rPr lang="zh-CN" altLang="en-US" dirty="0"/>
              <a:t>前的系数一定要合并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6881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2835-E6C8-198E-CF2D-0201372D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E8D254-8407-6E34-25FE-36E4A1D14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3B6BAB-E7B0-A118-079A-6B573D201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491155-D687-7A3D-C182-C385B0FD0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2978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8650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9371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631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本质矩阵与八点算法</a:t>
            </a:r>
            <a:endParaRPr lang="en-US" altLang="zh-CN" dirty="0"/>
          </a:p>
          <a:p>
            <a:r>
              <a:rPr lang="zh-CN" altLang="en-US" dirty="0"/>
              <a:t>单应矩阵与四点算法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C992A-CB1A-471A-A82E-C379A4FF04F2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14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C8ED3-DCB7-0F40-A04F-4AA9FF1B1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51999D-4646-6B4F-9EDF-68EEABA3A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88856-48B5-C21D-02E2-F7C5602C9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3C0A0-8DFC-6DF8-46E7-BF2B8026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37C27-1A24-A10A-5C9C-743708F9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45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A68DE-8850-9313-6010-EAF80393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E6DB9-5909-0E35-7AD4-E24E846CF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659AD-C285-B49F-DEAE-B2E7EC9E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F0AE76-049D-083F-EA03-19B7ECE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22496-3019-44E8-BB51-F51CE546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77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10355-DDC1-A85B-5EAC-BFA091C1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3B6A80-25CC-C3D5-5731-FE7BF8DC0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199DC-4D92-53CF-DC78-1449A254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55901-B14E-6D56-A471-4FB0285D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E2BFF-B80B-36AF-EEDE-DF0247BF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A6E74-D460-49CD-25E9-81B41DC0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7F5B9-E156-5B36-E5D5-FC3291078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75E600-1D7B-68E7-F6CC-381B48B0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2BD45-ACEF-0F3B-268E-FAA0F5DD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D366CF-58CB-928A-6141-8E080F8F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A195CC-7AC3-FC07-3B72-EF1853D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16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0530E-CCD9-B95F-8C53-90642F59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4108A-D9A0-D152-1DEF-018D98EDE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365782-EDB1-1A62-9EFC-E6BA02E31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5E7EDF-69C1-1FE9-A290-E2DC8FC0F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D47FEC-6CBE-29A8-41A3-918E76CD7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C9032A-A1AE-A2A6-5F40-A3C293F0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F04B4E-9F59-B463-E99D-646E4414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2E53E8-C902-5A07-9F7F-C4C09D6D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83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35CA4-7CE9-8782-AF02-ECAD802B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842587-BE35-E7E9-3E7F-D0E35477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AA836A-0B82-A458-7C71-772DB58B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DC7F40-C592-7086-DC68-AC114C5C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59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D0D17D-C351-9272-7FB9-9F9D1B6C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103C0E-DDE0-5C06-2490-13C5D8EA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27067-1E47-D0C6-ABDF-6732C365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98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C45B2-1FEE-29EA-3DAC-05B31A0D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E65D5-73B1-EA99-DDE3-19A5E882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841BA9-8D50-5A7C-94F3-557D58354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DBFC8B-C5D7-2179-7D11-4C020B92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55F2DB-5A54-F79A-E45A-F4338C63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662B43-D753-87E7-C792-8ECA4C43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19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08465-E804-F49A-8A83-050F1E86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A989B4-F1A8-31F3-703B-4A2B18832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6023C9-2FFA-6FBF-CDFB-7EAD39D8D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60E25F-04F5-9DE4-C9B5-3135E0E3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7E689F-366A-B323-FB4C-ABB9BEA9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5A71A1-0D85-667D-855E-DCD458A3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38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88A53-3E74-D048-8D94-715FE257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2B3A32-26FD-661A-E627-C2A9DD698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6C3947-23D1-32D1-7F04-22E6F607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04E88F-8F26-B3E0-78B5-7DCC49EC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B51721-9BBC-16B4-A3E3-1F15F97B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32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C9DA85-A48D-9686-8E5A-1D682B520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E090D-6EC1-0D63-30C1-9E98EDE39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B7332-7971-166E-790A-74176625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B93D2-3926-F3E4-2B6F-64AD36C4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F7522B-D61B-A102-5293-77A3E72C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7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815A8B-D27E-67AD-7BFE-BA338B4F8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646446-C4A9-0EEF-E4A1-525E76302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37E794-40A0-CBB8-7F3E-362DFAC72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EA1D4-F3E9-4B45-B5EC-FB23BCACAB0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29B44-174E-F12D-8C83-1CF80EFE0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E4352E-B4FB-F2C7-14C5-0807D153D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1B35F-A116-4C15-A66B-BE3CFFA60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04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0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image" Target="../media/image7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C1A14-33DB-31C2-0813-1A5FCB9A1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altLang="zh-CN" dirty="0"/>
              <a:t>6221 tutor2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7AEF0A-8151-C56B-6019-7FF0B1224139}"/>
              </a:ext>
            </a:extLst>
          </p:cNvPr>
          <p:cNvSpPr txBox="1"/>
          <p:nvPr/>
        </p:nvSpPr>
        <p:spPr>
          <a:xfrm>
            <a:off x="9867781" y="374904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2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473A6-5A56-F544-F317-19B921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768508-55DE-8AD3-BFB3-DCBA71050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Year:</a:t>
            </a:r>
          </a:p>
          <a:p>
            <a:pPr marL="0" indent="0">
              <a:buNone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true/false questions 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 marks per question)</a:t>
            </a:r>
            <a:endParaRPr lang="fr-FR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multiple choice question 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 marks)</a:t>
            </a:r>
          </a:p>
          <a:p>
            <a:pPr marL="0" indent="0">
              <a:buNone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100 marks. 15% of your final score</a:t>
            </a:r>
          </a:p>
          <a:p>
            <a:pPr marL="0" indent="0">
              <a:buNone/>
            </a:pPr>
            <a:endParaRPr lang="fr-FR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note that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questions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a brief explanation of the reasoning.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05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76789-7E00-7673-C091-937FCC219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08" y="701457"/>
            <a:ext cx="11686784" cy="563671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8 points be used to obtain an essential matrix?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4 coplanar points be used to obtain 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Homography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matrix?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both Essential matrix (E) and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Homography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(H) be used to obtain R and a scaled translation x?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describes the difference between the measurement and true value, while accuracy relates to reproducibility of sensor results.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Kalman filtering statistically optimal for linear systems?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random variables, X and Y, are (uncorrelated) independent, the variance of their sum equal to the sum of their individual variances.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from Motion (SFM) is the study of the rotation and translation that separates these two camera views and the relative structure of the observed feature points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072B47-F003-5829-6F9F-042F1B5C1453}"/>
              </a:ext>
            </a:extLst>
          </p:cNvPr>
          <p:cNvSpPr txBox="1"/>
          <p:nvPr/>
        </p:nvSpPr>
        <p:spPr>
          <a:xfrm>
            <a:off x="9103359" y="165711"/>
            <a:ext cx="2836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reference only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44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54DF320-8BD1-13B1-030A-E2E1E676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answer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2E33FB4-42E5-846E-AC25-49605D708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25501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8 points be used to obtain an essential matrix?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4 coplanar points be used to obtain 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Homography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matrix?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both Essential matrix (E) and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Homography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(H) be used to obtain R and a scaled translation x?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149BEB-0FCA-4A86-AA15-35F70B6A0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24" y="4184510"/>
            <a:ext cx="6894174" cy="8702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4FC442F-B552-1EDA-F207-EFF0E0BE8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24" y="5167312"/>
            <a:ext cx="5822772" cy="1257500"/>
          </a:xfrm>
          <a:prstGeom prst="rect">
            <a:avLst/>
          </a:prstGeom>
        </p:spPr>
      </p:pic>
      <p:pic>
        <p:nvPicPr>
          <p:cNvPr id="2" name="内容占位符 10">
            <a:extLst>
              <a:ext uri="{FF2B5EF4-FFF2-40B4-BE49-F238E27FC236}">
                <a16:creationId xmlns:a16="http://schemas.microsoft.com/office/drawing/2014/main" id="{79F3E294-0D63-FAEB-32F8-F121A37AB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688" y="4068671"/>
            <a:ext cx="5078714" cy="21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3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296D6-D9F0-D23B-5ACE-51F96502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98FDA88-B7EF-CCBE-FCC0-F952BF89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answer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ECF54A6-1D12-BC54-5FA9-B0DD9173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268514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Precision describes the difference between the measurement and true value, while Accuracy relates to reproducibility of sensor results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9D2012-6D00-DBB1-FAE9-89448E31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66"/>
          <a:stretch>
            <a:fillRect/>
          </a:stretch>
        </p:blipFill>
        <p:spPr>
          <a:xfrm>
            <a:off x="1011099" y="3052509"/>
            <a:ext cx="6203894" cy="38054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2DF2704-94A8-5224-682A-24C3D90DCB1D}"/>
              </a:ext>
            </a:extLst>
          </p:cNvPr>
          <p:cNvSpPr txBox="1"/>
          <p:nvPr/>
        </p:nvSpPr>
        <p:spPr>
          <a:xfrm>
            <a:off x="7665929" y="3732756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Lec1</a:t>
            </a:r>
            <a:r>
              <a:rPr lang="zh-CN" altLang="en-US" dirty="0"/>
              <a:t>，</a:t>
            </a:r>
            <a:r>
              <a:rPr lang="en-US" altLang="zh-CN" dirty="0"/>
              <a:t>page24</a:t>
            </a:r>
          </a:p>
        </p:txBody>
      </p:sp>
    </p:spTree>
    <p:extLst>
      <p:ext uri="{BB962C8B-B14F-4D97-AF65-F5344CB8AC3E}">
        <p14:creationId xmlns:p14="http://schemas.microsoft.com/office/powerpoint/2010/main" val="211795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70D4-E6CA-8860-FAF6-795775B9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5AA5F8C-CEE8-51BA-1029-85454336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answer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B951B38-E3FF-5D37-8661-AD0F98EE9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268514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Is Kalman filtering statistically optimal for linear systems?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E41F1F-2C92-F614-8A28-5AE80B5D93AE}"/>
              </a:ext>
            </a:extLst>
          </p:cNvPr>
          <p:cNvSpPr txBox="1"/>
          <p:nvPr/>
        </p:nvSpPr>
        <p:spPr>
          <a:xfrm>
            <a:off x="9107029" y="2646366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Lec4</a:t>
            </a:r>
            <a:r>
              <a:rPr lang="zh-CN" altLang="en-US" dirty="0"/>
              <a:t>，</a:t>
            </a:r>
            <a:r>
              <a:rPr lang="en-US" altLang="zh-CN" dirty="0"/>
              <a:t>page17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CF28DA-868C-D880-36B3-98AB87B5F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12" y="2580604"/>
            <a:ext cx="7974206" cy="15205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AAE2BC-17B2-12E9-E312-3C3FD37F9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512" y="4518892"/>
            <a:ext cx="5753491" cy="166616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4C8664F-A4E1-40C8-1C3A-2F21FEB4FCFD}"/>
              </a:ext>
            </a:extLst>
          </p:cNvPr>
          <p:cNvSpPr txBox="1"/>
          <p:nvPr/>
        </p:nvSpPr>
        <p:spPr>
          <a:xfrm>
            <a:off x="7944197" y="5167311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Lec4</a:t>
            </a:r>
            <a:r>
              <a:rPr lang="zh-CN" altLang="en-US" dirty="0"/>
              <a:t>，</a:t>
            </a:r>
            <a:r>
              <a:rPr lang="en-US" altLang="zh-CN" dirty="0"/>
              <a:t>page45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3185446-7960-07E7-12D8-2B9A4B28C850}"/>
              </a:ext>
            </a:extLst>
          </p:cNvPr>
          <p:cNvCxnSpPr/>
          <p:nvPr/>
        </p:nvCxnSpPr>
        <p:spPr>
          <a:xfrm>
            <a:off x="1487277" y="3668617"/>
            <a:ext cx="27211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A0C6351-B6FF-4852-7482-7E17AF7633F4}"/>
              </a:ext>
            </a:extLst>
          </p:cNvPr>
          <p:cNvCxnSpPr>
            <a:cxnSpLocks/>
          </p:cNvCxnSpPr>
          <p:nvPr/>
        </p:nvCxnSpPr>
        <p:spPr>
          <a:xfrm>
            <a:off x="1110867" y="3347292"/>
            <a:ext cx="14340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53341EF-CCA0-FCB0-CF22-8E2BC22C779A}"/>
              </a:ext>
            </a:extLst>
          </p:cNvPr>
          <p:cNvCxnSpPr>
            <a:cxnSpLocks/>
          </p:cNvCxnSpPr>
          <p:nvPr/>
        </p:nvCxnSpPr>
        <p:spPr>
          <a:xfrm>
            <a:off x="1110867" y="4088256"/>
            <a:ext cx="357130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22E74BB-A53D-8658-C467-9A666ECB87F0}"/>
              </a:ext>
            </a:extLst>
          </p:cNvPr>
          <p:cNvCxnSpPr>
            <a:cxnSpLocks/>
          </p:cNvCxnSpPr>
          <p:nvPr/>
        </p:nvCxnSpPr>
        <p:spPr>
          <a:xfrm>
            <a:off x="7944197" y="3732882"/>
            <a:ext cx="8472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46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6606-0319-3978-9A94-E5243435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F4A8F70-EE95-CC73-A061-D6754BC1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answer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990F347-D0F5-E810-645B-5F549A24E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73831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If two random variables, X and Y, are (uncorrelated) independent, the variance of their sum equal to the sum of their individual variances.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25F1E6-607C-38E6-617B-3EF60AD270F7}"/>
              </a:ext>
            </a:extLst>
          </p:cNvPr>
          <p:cNvSpPr txBox="1"/>
          <p:nvPr/>
        </p:nvSpPr>
        <p:spPr>
          <a:xfrm>
            <a:off x="7544172" y="4854667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Lec4</a:t>
            </a:r>
            <a:r>
              <a:rPr lang="zh-CN" altLang="en-US" dirty="0"/>
              <a:t>，</a:t>
            </a:r>
            <a:r>
              <a:rPr lang="en-US" altLang="zh-CN" dirty="0"/>
              <a:t>page15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4E8A40-8C00-4EB6-CCA1-86F343380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897" y="2855541"/>
            <a:ext cx="5815378" cy="363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8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6FC0-5A23-8812-C307-EDF75E53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523B123-6C60-32B3-4375-AFAA6400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answer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7C5B675-E014-1B9A-17D0-1803F77B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61318" cy="173831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Structure from Motion is the study of the rotation and translation that separates these two camera views and the relative structure of the observed feature points.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BBE127-11EA-556F-FF76-52BBAB764D27}"/>
              </a:ext>
            </a:extLst>
          </p:cNvPr>
          <p:cNvSpPr txBox="1"/>
          <p:nvPr/>
        </p:nvSpPr>
        <p:spPr>
          <a:xfrm>
            <a:off x="7544172" y="4854667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Lec3</a:t>
            </a:r>
            <a:r>
              <a:rPr lang="zh-CN" altLang="en-US" dirty="0"/>
              <a:t>，</a:t>
            </a:r>
            <a:r>
              <a:rPr lang="en-US" altLang="zh-CN" dirty="0"/>
              <a:t>page4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60360F-CBDB-0F6D-DCD2-98B6A5FD2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28"/>
          <a:stretch>
            <a:fillRect/>
          </a:stretch>
        </p:blipFill>
        <p:spPr>
          <a:xfrm>
            <a:off x="575153" y="3429000"/>
            <a:ext cx="6802677" cy="216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4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A86EA-AF05-2D9E-3490-6D90E1C1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choice question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C4AF6-7D0C-7D6B-42C0-DE919A5EF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3759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are advantages of multi-sensor integration and fusion? Justify your answer in detail.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28599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08B43-10A3-D453-F2CD-F979F2DE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Lec1 Page12-15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D892479-A1BD-5A6C-182E-DEC8AF5C4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209" y="1414299"/>
            <a:ext cx="4853012" cy="34082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5E4AF5C-9C3F-0BA9-6AA5-1CC1F8C3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667" y="0"/>
            <a:ext cx="5115124" cy="40473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6F49A7-B937-8C55-A003-65550EF3C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08" y="3934606"/>
            <a:ext cx="4876774" cy="28106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9F851C-CF6D-787D-19B0-BBE641771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667" y="3257862"/>
            <a:ext cx="5115124" cy="358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3F6C0-B375-0658-7AAB-A4A4A548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Mobile Robots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9FC55-1319-C2E3-9004-D22F5EBD8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20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C86766-C00D-709F-782A-FCE5A4BA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078403C-FB62-3E10-C81D-F84A43870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25676" y="199526"/>
            <a:ext cx="9369468" cy="62933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9CDBDF-429A-258A-3C92-851C90B555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64"/>
          <a:stretch>
            <a:fillRect/>
          </a:stretch>
        </p:blipFill>
        <p:spPr>
          <a:xfrm>
            <a:off x="6814158" y="2408412"/>
            <a:ext cx="5503102" cy="444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88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B1FBB-0339-229B-C15B-8B8A8B09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Mobile Robots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4979DA1-DFF2-679D-B36E-75476D509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2940" y="1587630"/>
            <a:ext cx="8406008" cy="504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17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E84E6-DA8A-310F-D7B0-17052688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wheel types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BDCA2-651C-D139-38B3-991CEDB61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Standard wheel</a:t>
            </a:r>
          </a:p>
          <a:p>
            <a:r>
              <a:rPr lang="en-US" altLang="zh-CN" b="1" dirty="0"/>
              <a:t>Castor wheel</a:t>
            </a:r>
          </a:p>
          <a:p>
            <a:r>
              <a:rPr lang="en-US" altLang="zh-CN" dirty="0"/>
              <a:t>Swedish wheel</a:t>
            </a:r>
          </a:p>
          <a:p>
            <a:r>
              <a:rPr lang="en-US" altLang="zh-CN" dirty="0"/>
              <a:t>Ball or spherical wheel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051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25204-9769-3825-5E41-BC5CBCE6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standard wheel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1EE139-B689-B094-A683-098AB8343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3982" y="1690687"/>
            <a:ext cx="10087325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23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33CFF-E145-8656-0B67-7326D99A5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13120-A767-7786-EB76-555BC8E3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standard wheel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6AFA6D2-03CE-54F6-34EA-9439D58A5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6158" y="1690688"/>
            <a:ext cx="9137810" cy="435133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9A2D6B2-8C68-B4F8-8EAC-BACE95C8AC61}"/>
              </a:ext>
            </a:extLst>
          </p:cNvPr>
          <p:cNvSpPr/>
          <p:nvPr/>
        </p:nvSpPr>
        <p:spPr>
          <a:xfrm>
            <a:off x="4697260" y="4409161"/>
            <a:ext cx="726510" cy="613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1593C6-814D-66B1-CD7D-65A8B355AC69}"/>
              </a:ext>
            </a:extLst>
          </p:cNvPr>
          <p:cNvSpPr/>
          <p:nvPr/>
        </p:nvSpPr>
        <p:spPr>
          <a:xfrm>
            <a:off x="5645063" y="2865329"/>
            <a:ext cx="450937" cy="1017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D95C2F-FB37-8970-6E07-DB59BEBF9326}"/>
              </a:ext>
            </a:extLst>
          </p:cNvPr>
          <p:cNvCxnSpPr/>
          <p:nvPr/>
        </p:nvCxnSpPr>
        <p:spPr>
          <a:xfrm>
            <a:off x="2170323" y="3800819"/>
            <a:ext cx="406522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088AC56-CE0E-F838-791F-3CD6BCEF2402}"/>
              </a:ext>
            </a:extLst>
          </p:cNvPr>
          <p:cNvCxnSpPr/>
          <p:nvPr/>
        </p:nvCxnSpPr>
        <p:spPr>
          <a:xfrm>
            <a:off x="1288973" y="4891489"/>
            <a:ext cx="4807027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6DCB33C-E4CE-0217-DA13-76B55709BF90}"/>
              </a:ext>
            </a:extLst>
          </p:cNvPr>
          <p:cNvCxnSpPr/>
          <p:nvPr/>
        </p:nvCxnSpPr>
        <p:spPr>
          <a:xfrm>
            <a:off x="1421176" y="5475383"/>
            <a:ext cx="191693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108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3119-8350-8332-7F20-3C53E261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4024-EB47-5D0B-504F-86B48F0E0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standard wheel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DA7F6C6-D02A-011C-8D7E-27489BB3E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1591" y="1550052"/>
            <a:ext cx="10748817" cy="485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82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9ABC-1D75-4B51-3C9D-1F25DCD1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F44C6-E34B-A518-5158-1F8E604E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standard wheel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66D0F61-1FDA-AF33-EFFC-3EA9156E3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7471" y="1490271"/>
            <a:ext cx="9030944" cy="516731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027C7A-9A84-D0F2-0267-6A9E054D0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592" y="1061700"/>
            <a:ext cx="4228571" cy="857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FDDC02-1C7B-13E0-E3DD-05916C30C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246" y="86130"/>
            <a:ext cx="4450551" cy="85714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61363AF-19E7-CBA2-C242-FAA20EFBB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377" y="4267473"/>
            <a:ext cx="2641824" cy="25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38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AE2C3-13C4-DF72-788B-B4419126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Steered standard wheel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F96DB14-B639-313D-C98D-F805F0556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8943" y="1838152"/>
            <a:ext cx="98941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64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7FD10-D68D-4651-7EA1-795EB3A6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Castor wheel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BFC3F62-EF52-F462-C00C-D88381E70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7018" y="1512474"/>
            <a:ext cx="10197963" cy="498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47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DEF7-7747-146C-0DDD-8127C8C2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AB9C7-93E7-9D4E-DF7E-C0F37EB0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Castor wheel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A2F97AB-CFF4-24DE-9645-79D454C89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8047" y="1690688"/>
            <a:ext cx="103948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34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664C8-0988-FB49-92EB-17D6CABD8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Formula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9CE51F2-3F7C-5E6D-6C27-BEB5C831C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28472"/>
            <a:ext cx="8443255" cy="4828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556C24D-DBEC-7860-41B2-F13454CD75D9}"/>
                  </a:ext>
                </a:extLst>
              </p:cNvPr>
              <p:cNvSpPr txBox="1"/>
              <p:nvPr/>
            </p:nvSpPr>
            <p:spPr>
              <a:xfrm>
                <a:off x="7384263" y="3219885"/>
                <a:ext cx="1635384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Parameters: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β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𝓁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556C24D-DBEC-7860-41B2-F13454CD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263" y="3219885"/>
                <a:ext cx="1635384" cy="3046988"/>
              </a:xfrm>
              <a:prstGeom prst="rect">
                <a:avLst/>
              </a:prstGeom>
              <a:blipFill>
                <a:blip r:embed="rId4"/>
                <a:stretch>
                  <a:fillRect l="-5576" t="-1600" r="-4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019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8C956-517B-C6A6-FAD5-1B9D7C91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24-25 S1 Q3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972458-8B7B-0D61-F09B-934D2815AD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47" y="1368678"/>
            <a:ext cx="7933547" cy="548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759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D746-C552-F82D-610A-6A456B5B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05AB4-88E3-DB48-3124-2F80F2B2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24-25 S1 Q3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729233-77F5-210F-F7C1-6FE11021E5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563"/>
            <a:ext cx="8643058" cy="598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2F57656-15B9-E9B4-25A9-11D4AEAE0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958" y="4299930"/>
            <a:ext cx="6833042" cy="25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15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492E504-F36F-7E20-F3DC-10017CDB6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84" y="68394"/>
            <a:ext cx="4146115" cy="3921644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BAF23301-7487-6A8D-71F8-1E26809B83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5" t="24595" r="20870" b="14662"/>
          <a:stretch>
            <a:fillRect/>
          </a:stretch>
        </p:blipFill>
        <p:spPr bwMode="auto">
          <a:xfrm>
            <a:off x="0" y="302363"/>
            <a:ext cx="8017914" cy="571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C735319-2355-49CB-FB43-2B823A6D8D82}"/>
              </a:ext>
            </a:extLst>
          </p:cNvPr>
          <p:cNvCxnSpPr>
            <a:cxnSpLocks/>
          </p:cNvCxnSpPr>
          <p:nvPr/>
        </p:nvCxnSpPr>
        <p:spPr>
          <a:xfrm flipH="1" flipV="1">
            <a:off x="1628384" y="1114816"/>
            <a:ext cx="4020854" cy="2044053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536A6FB-0155-7347-142A-472960BA419A}"/>
              </a:ext>
            </a:extLst>
          </p:cNvPr>
          <p:cNvCxnSpPr>
            <a:cxnSpLocks/>
          </p:cNvCxnSpPr>
          <p:nvPr/>
        </p:nvCxnSpPr>
        <p:spPr>
          <a:xfrm flipH="1">
            <a:off x="1503123" y="3158869"/>
            <a:ext cx="4146115" cy="2189745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B0E97F9-11F6-1018-4ACD-169773D5AF4C}"/>
              </a:ext>
            </a:extLst>
          </p:cNvPr>
          <p:cNvCxnSpPr/>
          <p:nvPr/>
        </p:nvCxnSpPr>
        <p:spPr>
          <a:xfrm flipV="1">
            <a:off x="3469710" y="450937"/>
            <a:ext cx="0" cy="1578279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7A013E-2685-D5BE-234A-4BCD0132B7F1}"/>
              </a:ext>
            </a:extLst>
          </p:cNvPr>
          <p:cNvCxnSpPr/>
          <p:nvPr/>
        </p:nvCxnSpPr>
        <p:spPr>
          <a:xfrm flipV="1">
            <a:off x="3469710" y="2780778"/>
            <a:ext cx="0" cy="1578279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AB0BB0-504F-7BB1-B790-FB88B7B24FFC}"/>
              </a:ext>
            </a:extLst>
          </p:cNvPr>
          <p:cNvCxnSpPr>
            <a:cxnSpLocks/>
          </p:cNvCxnSpPr>
          <p:nvPr/>
        </p:nvCxnSpPr>
        <p:spPr>
          <a:xfrm flipV="1">
            <a:off x="8561857" y="1753644"/>
            <a:ext cx="3287765" cy="1816274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80DC580-791E-F747-4137-6B165BA10E23}"/>
              </a:ext>
            </a:extLst>
          </p:cNvPr>
          <p:cNvCxnSpPr>
            <a:cxnSpLocks/>
          </p:cNvCxnSpPr>
          <p:nvPr/>
        </p:nvCxnSpPr>
        <p:spPr>
          <a:xfrm flipV="1">
            <a:off x="10361113" y="842626"/>
            <a:ext cx="1075150" cy="175234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7476DA62-D8D9-126C-5436-C759B32E5BDC}"/>
              </a:ext>
            </a:extLst>
          </p:cNvPr>
          <p:cNvSpPr/>
          <p:nvPr/>
        </p:nvSpPr>
        <p:spPr>
          <a:xfrm>
            <a:off x="4987764" y="2697686"/>
            <a:ext cx="1177447" cy="385118"/>
          </a:xfrm>
          <a:custGeom>
            <a:avLst/>
            <a:gdLst>
              <a:gd name="csX0" fmla="*/ 0 w 1177447"/>
              <a:gd name="csY0" fmla="*/ 71967 h 385118"/>
              <a:gd name="csX1" fmla="*/ 801666 w 1177447"/>
              <a:gd name="csY1" fmla="*/ 21863 h 385118"/>
              <a:gd name="csX2" fmla="*/ 1177447 w 1177447"/>
              <a:gd name="csY2" fmla="*/ 385118 h 385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77447" h="385118">
                <a:moveTo>
                  <a:pt x="0" y="71967"/>
                </a:moveTo>
                <a:cubicBezTo>
                  <a:pt x="302712" y="20819"/>
                  <a:pt x="605425" y="-30329"/>
                  <a:pt x="801666" y="21863"/>
                </a:cubicBezTo>
                <a:cubicBezTo>
                  <a:pt x="997907" y="74055"/>
                  <a:pt x="1121080" y="328751"/>
                  <a:pt x="1177447" y="385118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355A143-3F86-C26E-C165-849C3FF05C61}"/>
              </a:ext>
            </a:extLst>
          </p:cNvPr>
          <p:cNvSpPr/>
          <p:nvPr/>
        </p:nvSpPr>
        <p:spPr>
          <a:xfrm>
            <a:off x="2480153" y="1006370"/>
            <a:ext cx="901874" cy="459175"/>
          </a:xfrm>
          <a:custGeom>
            <a:avLst/>
            <a:gdLst>
              <a:gd name="csX0" fmla="*/ 0 w 901874"/>
              <a:gd name="csY0" fmla="*/ 459175 h 459175"/>
              <a:gd name="csX1" fmla="*/ 413359 w 901874"/>
              <a:gd name="csY1" fmla="*/ 20764 h 459175"/>
              <a:gd name="csX2" fmla="*/ 901874 w 901874"/>
              <a:gd name="csY2" fmla="*/ 70868 h 459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01874" h="459175">
                <a:moveTo>
                  <a:pt x="0" y="459175"/>
                </a:moveTo>
                <a:cubicBezTo>
                  <a:pt x="131523" y="272328"/>
                  <a:pt x="263047" y="85482"/>
                  <a:pt x="413359" y="20764"/>
                </a:cubicBezTo>
                <a:cubicBezTo>
                  <a:pt x="563671" y="-43954"/>
                  <a:pt x="822543" y="62517"/>
                  <a:pt x="901874" y="70868"/>
                </a:cubicBezTo>
              </a:path>
            </a:pathLst>
          </a:cu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625FDEF-BC57-183C-CA62-0F744D317EDE}"/>
                  </a:ext>
                </a:extLst>
              </p:cNvPr>
              <p:cNvSpPr txBox="1"/>
              <p:nvPr/>
            </p:nvSpPr>
            <p:spPr>
              <a:xfrm>
                <a:off x="5028169" y="5277590"/>
                <a:ext cx="2274084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≈153</m:t>
                      </m:r>
                    </m:oMath>
                  </m:oMathPara>
                </a14:m>
                <a:endParaRPr lang="en-US" altLang="zh-CN" sz="40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≈−63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625FDEF-BC57-183C-CA62-0F744D317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169" y="5277590"/>
                <a:ext cx="2274084" cy="1323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5DE4B8A2-4BB1-EB19-C7DC-AA957A6230F3}"/>
              </a:ext>
            </a:extLst>
          </p:cNvPr>
          <p:cNvSpPr txBox="1"/>
          <p:nvPr/>
        </p:nvSpPr>
        <p:spPr>
          <a:xfrm>
            <a:off x="5068628" y="4793929"/>
            <a:ext cx="2566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wheel 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8C2C5A34-0492-42CD-964A-8A692C536166}"/>
              </a:ext>
            </a:extLst>
          </p:cNvPr>
          <p:cNvSpPr/>
          <p:nvPr/>
        </p:nvSpPr>
        <p:spPr>
          <a:xfrm rot="8851016">
            <a:off x="4987763" y="3270135"/>
            <a:ext cx="1177447" cy="385118"/>
          </a:xfrm>
          <a:custGeom>
            <a:avLst/>
            <a:gdLst>
              <a:gd name="csX0" fmla="*/ 0 w 1177447"/>
              <a:gd name="csY0" fmla="*/ 71967 h 385118"/>
              <a:gd name="csX1" fmla="*/ 801666 w 1177447"/>
              <a:gd name="csY1" fmla="*/ 21863 h 385118"/>
              <a:gd name="csX2" fmla="*/ 1177447 w 1177447"/>
              <a:gd name="csY2" fmla="*/ 385118 h 385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77447" h="385118">
                <a:moveTo>
                  <a:pt x="0" y="71967"/>
                </a:moveTo>
                <a:cubicBezTo>
                  <a:pt x="302712" y="20819"/>
                  <a:pt x="605425" y="-30329"/>
                  <a:pt x="801666" y="21863"/>
                </a:cubicBezTo>
                <a:cubicBezTo>
                  <a:pt x="997907" y="74055"/>
                  <a:pt x="1121080" y="328751"/>
                  <a:pt x="1177447" y="385118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01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1C5F-1053-0AAA-BFB7-626A2D046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2B4E801-B4E3-1423-17A9-2D5855B40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84" y="68394"/>
            <a:ext cx="4146115" cy="3921644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55EE0D7-8CB1-B913-8C80-EE8BBEABC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5" t="24595" r="20870" b="14662"/>
          <a:stretch>
            <a:fillRect/>
          </a:stretch>
        </p:blipFill>
        <p:spPr bwMode="auto">
          <a:xfrm>
            <a:off x="0" y="302363"/>
            <a:ext cx="8017914" cy="571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2D3C802-D9B0-D691-FF52-0848175961C8}"/>
              </a:ext>
            </a:extLst>
          </p:cNvPr>
          <p:cNvCxnSpPr>
            <a:cxnSpLocks/>
          </p:cNvCxnSpPr>
          <p:nvPr/>
        </p:nvCxnSpPr>
        <p:spPr>
          <a:xfrm flipH="1" flipV="1">
            <a:off x="1628384" y="1114816"/>
            <a:ext cx="4020854" cy="2044053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251BB30-1523-051A-06AA-A3E32ECF5FDD}"/>
              </a:ext>
            </a:extLst>
          </p:cNvPr>
          <p:cNvCxnSpPr>
            <a:cxnSpLocks/>
          </p:cNvCxnSpPr>
          <p:nvPr/>
        </p:nvCxnSpPr>
        <p:spPr>
          <a:xfrm flipH="1">
            <a:off x="1503123" y="3158869"/>
            <a:ext cx="4146115" cy="2189745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B68339F-2679-6D42-61F6-22B154144E05}"/>
              </a:ext>
            </a:extLst>
          </p:cNvPr>
          <p:cNvCxnSpPr/>
          <p:nvPr/>
        </p:nvCxnSpPr>
        <p:spPr>
          <a:xfrm flipV="1">
            <a:off x="3469710" y="450937"/>
            <a:ext cx="0" cy="1578279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5DF4C6A-152C-DFBD-B639-AF39C5601073}"/>
              </a:ext>
            </a:extLst>
          </p:cNvPr>
          <p:cNvCxnSpPr/>
          <p:nvPr/>
        </p:nvCxnSpPr>
        <p:spPr>
          <a:xfrm flipV="1">
            <a:off x="3472320" y="2780778"/>
            <a:ext cx="0" cy="1578279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1C41C98-27A7-AA81-9717-4D95F8F5C327}"/>
              </a:ext>
            </a:extLst>
          </p:cNvPr>
          <p:cNvCxnSpPr>
            <a:cxnSpLocks/>
          </p:cNvCxnSpPr>
          <p:nvPr/>
        </p:nvCxnSpPr>
        <p:spPr>
          <a:xfrm flipV="1">
            <a:off x="8561857" y="1753644"/>
            <a:ext cx="3287765" cy="1816274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8FA1BA9-4C0E-E821-29EB-84D76BCA1833}"/>
              </a:ext>
            </a:extLst>
          </p:cNvPr>
          <p:cNvCxnSpPr>
            <a:cxnSpLocks/>
          </p:cNvCxnSpPr>
          <p:nvPr/>
        </p:nvCxnSpPr>
        <p:spPr>
          <a:xfrm flipV="1">
            <a:off x="10361113" y="842626"/>
            <a:ext cx="1075150" cy="175234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2BD8F79B-6D25-FCA5-1BEF-1B1725D46EF8}"/>
              </a:ext>
            </a:extLst>
          </p:cNvPr>
          <p:cNvSpPr/>
          <p:nvPr/>
        </p:nvSpPr>
        <p:spPr>
          <a:xfrm>
            <a:off x="4987764" y="2697686"/>
            <a:ext cx="1177447" cy="385118"/>
          </a:xfrm>
          <a:custGeom>
            <a:avLst/>
            <a:gdLst>
              <a:gd name="csX0" fmla="*/ 0 w 1177447"/>
              <a:gd name="csY0" fmla="*/ 71967 h 385118"/>
              <a:gd name="csX1" fmla="*/ 801666 w 1177447"/>
              <a:gd name="csY1" fmla="*/ 21863 h 385118"/>
              <a:gd name="csX2" fmla="*/ 1177447 w 1177447"/>
              <a:gd name="csY2" fmla="*/ 385118 h 385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77447" h="385118">
                <a:moveTo>
                  <a:pt x="0" y="71967"/>
                </a:moveTo>
                <a:cubicBezTo>
                  <a:pt x="302712" y="20819"/>
                  <a:pt x="605425" y="-30329"/>
                  <a:pt x="801666" y="21863"/>
                </a:cubicBezTo>
                <a:cubicBezTo>
                  <a:pt x="997907" y="74055"/>
                  <a:pt x="1121080" y="328751"/>
                  <a:pt x="1177447" y="385118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9FEA81A-BE5B-261D-CC65-CB56F11806AD}"/>
              </a:ext>
            </a:extLst>
          </p:cNvPr>
          <p:cNvSpPr/>
          <p:nvPr/>
        </p:nvSpPr>
        <p:spPr>
          <a:xfrm>
            <a:off x="2480153" y="1006370"/>
            <a:ext cx="901874" cy="459175"/>
          </a:xfrm>
          <a:custGeom>
            <a:avLst/>
            <a:gdLst>
              <a:gd name="csX0" fmla="*/ 0 w 901874"/>
              <a:gd name="csY0" fmla="*/ 459175 h 459175"/>
              <a:gd name="csX1" fmla="*/ 413359 w 901874"/>
              <a:gd name="csY1" fmla="*/ 20764 h 459175"/>
              <a:gd name="csX2" fmla="*/ 901874 w 901874"/>
              <a:gd name="csY2" fmla="*/ 70868 h 459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01874" h="459175">
                <a:moveTo>
                  <a:pt x="0" y="459175"/>
                </a:moveTo>
                <a:cubicBezTo>
                  <a:pt x="131523" y="272328"/>
                  <a:pt x="263047" y="85482"/>
                  <a:pt x="413359" y="20764"/>
                </a:cubicBezTo>
                <a:cubicBezTo>
                  <a:pt x="563671" y="-43954"/>
                  <a:pt x="822543" y="62517"/>
                  <a:pt x="901874" y="70868"/>
                </a:cubicBezTo>
              </a:path>
            </a:pathLst>
          </a:cu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36847C26-F8B1-0B57-29F2-647EDD74C8BF}"/>
              </a:ext>
            </a:extLst>
          </p:cNvPr>
          <p:cNvSpPr/>
          <p:nvPr/>
        </p:nvSpPr>
        <p:spPr>
          <a:xfrm rot="16200000" flipH="1">
            <a:off x="2714746" y="3799313"/>
            <a:ext cx="1072133" cy="412436"/>
          </a:xfrm>
          <a:custGeom>
            <a:avLst/>
            <a:gdLst>
              <a:gd name="csX0" fmla="*/ 0 w 901874"/>
              <a:gd name="csY0" fmla="*/ 459175 h 459175"/>
              <a:gd name="csX1" fmla="*/ 413359 w 901874"/>
              <a:gd name="csY1" fmla="*/ 20764 h 459175"/>
              <a:gd name="csX2" fmla="*/ 901874 w 901874"/>
              <a:gd name="csY2" fmla="*/ 70868 h 459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01874" h="459175">
                <a:moveTo>
                  <a:pt x="0" y="459175"/>
                </a:moveTo>
                <a:cubicBezTo>
                  <a:pt x="131523" y="272328"/>
                  <a:pt x="263047" y="85482"/>
                  <a:pt x="413359" y="20764"/>
                </a:cubicBezTo>
                <a:cubicBezTo>
                  <a:pt x="563671" y="-43954"/>
                  <a:pt x="822543" y="62517"/>
                  <a:pt x="901874" y="70868"/>
                </a:cubicBezTo>
              </a:path>
            </a:pathLst>
          </a:cu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0AC036-4BEE-2122-25EC-CDA53C2B7B04}"/>
                  </a:ext>
                </a:extLst>
              </p:cNvPr>
              <p:cNvSpPr txBox="1"/>
              <p:nvPr/>
            </p:nvSpPr>
            <p:spPr>
              <a:xfrm>
                <a:off x="5068628" y="5381248"/>
                <a:ext cx="2526204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≈</m:t>
                      </m:r>
                      <m:r>
                        <a:rPr lang="en-US" altLang="zh-CN" sz="4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−153</m:t>
                      </m:r>
                    </m:oMath>
                  </m:oMathPara>
                </a14:m>
                <a:endParaRPr lang="en-US" altLang="zh-CN" sz="40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≈−117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0AC036-4BEE-2122-25EC-CDA53C2B7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628" y="5381248"/>
                <a:ext cx="2526204" cy="1323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7C7243A-9501-D931-CD8B-05FCF4530105}"/>
              </a:ext>
            </a:extLst>
          </p:cNvPr>
          <p:cNvSpPr txBox="1"/>
          <p:nvPr/>
        </p:nvSpPr>
        <p:spPr>
          <a:xfrm>
            <a:off x="5068628" y="4852193"/>
            <a:ext cx="2566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wheel 2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6617582-25B9-0B53-E596-96B68EE8C3DF}"/>
              </a:ext>
            </a:extLst>
          </p:cNvPr>
          <p:cNvSpPr/>
          <p:nvPr/>
        </p:nvSpPr>
        <p:spPr>
          <a:xfrm rot="8851016">
            <a:off x="4987763" y="3270135"/>
            <a:ext cx="1177447" cy="385118"/>
          </a:xfrm>
          <a:custGeom>
            <a:avLst/>
            <a:gdLst>
              <a:gd name="csX0" fmla="*/ 0 w 1177447"/>
              <a:gd name="csY0" fmla="*/ 71967 h 385118"/>
              <a:gd name="csX1" fmla="*/ 801666 w 1177447"/>
              <a:gd name="csY1" fmla="*/ 21863 h 385118"/>
              <a:gd name="csX2" fmla="*/ 1177447 w 1177447"/>
              <a:gd name="csY2" fmla="*/ 385118 h 385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77447" h="385118">
                <a:moveTo>
                  <a:pt x="0" y="71967"/>
                </a:moveTo>
                <a:cubicBezTo>
                  <a:pt x="302712" y="20819"/>
                  <a:pt x="605425" y="-30329"/>
                  <a:pt x="801666" y="21863"/>
                </a:cubicBezTo>
                <a:cubicBezTo>
                  <a:pt x="997907" y="74055"/>
                  <a:pt x="1121080" y="328751"/>
                  <a:pt x="1177447" y="385118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080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E7F9-E2B1-10D1-07BD-B0D0EE29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5CBEF76-B095-845A-C687-AF4CAB6FE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84" y="68394"/>
            <a:ext cx="4146115" cy="3921644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215F431-C386-24B3-8C93-5D17DCE8A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5" t="24595" r="20870" b="14662"/>
          <a:stretch>
            <a:fillRect/>
          </a:stretch>
        </p:blipFill>
        <p:spPr bwMode="auto">
          <a:xfrm>
            <a:off x="-6060" y="295439"/>
            <a:ext cx="8017914" cy="571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9750703-480D-8729-A9ED-E464483CE6EA}"/>
              </a:ext>
            </a:extLst>
          </p:cNvPr>
          <p:cNvCxnSpPr>
            <a:cxnSpLocks/>
          </p:cNvCxnSpPr>
          <p:nvPr/>
        </p:nvCxnSpPr>
        <p:spPr>
          <a:xfrm flipH="1">
            <a:off x="601249" y="3158869"/>
            <a:ext cx="5047989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15B508C-86E5-F7E9-F8A9-26383C572DD3}"/>
              </a:ext>
            </a:extLst>
          </p:cNvPr>
          <p:cNvCxnSpPr>
            <a:cxnSpLocks/>
          </p:cNvCxnSpPr>
          <p:nvPr/>
        </p:nvCxnSpPr>
        <p:spPr>
          <a:xfrm flipV="1">
            <a:off x="8561857" y="1753644"/>
            <a:ext cx="3287765" cy="1816274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665D4EF-E2FE-76FC-670D-1F33C9D8D305}"/>
              </a:ext>
            </a:extLst>
          </p:cNvPr>
          <p:cNvCxnSpPr>
            <a:cxnSpLocks/>
          </p:cNvCxnSpPr>
          <p:nvPr/>
        </p:nvCxnSpPr>
        <p:spPr>
          <a:xfrm flipV="1">
            <a:off x="10361113" y="842626"/>
            <a:ext cx="1075150" cy="175234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659078C-BEFB-D4E4-D74E-5F4CC509F97E}"/>
                  </a:ext>
                </a:extLst>
              </p:cNvPr>
              <p:cNvSpPr txBox="1"/>
              <p:nvPr/>
            </p:nvSpPr>
            <p:spPr>
              <a:xfrm>
                <a:off x="4941738" y="5239122"/>
                <a:ext cx="269298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≈180</m:t>
                      </m:r>
                    </m:oMath>
                  </m:oMathPara>
                </a14:m>
                <a:endParaRPr lang="en-US" altLang="zh-CN" sz="40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’≈</m:t>
                      </m:r>
                      <m:r>
                        <m:rPr>
                          <m:sty m:val="p"/>
                        </m:rPr>
                        <a:rPr lang="en-US" altLang="zh-C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−180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659078C-BEFB-D4E4-D74E-5F4CC509F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738" y="5239122"/>
                <a:ext cx="2692981" cy="1323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7E1E5B7-24DD-8685-5937-A9A55FBB6AD2}"/>
              </a:ext>
            </a:extLst>
          </p:cNvPr>
          <p:cNvSpPr txBox="1"/>
          <p:nvPr/>
        </p:nvSpPr>
        <p:spPr>
          <a:xfrm>
            <a:off x="5055123" y="4529648"/>
            <a:ext cx="4146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Steered standard wheel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64FB5B5-6B12-BD6D-C435-ECB8204798BD}"/>
              </a:ext>
            </a:extLst>
          </p:cNvPr>
          <p:cNvCxnSpPr>
            <a:cxnSpLocks/>
          </p:cNvCxnSpPr>
          <p:nvPr/>
        </p:nvCxnSpPr>
        <p:spPr>
          <a:xfrm flipV="1">
            <a:off x="4724685" y="1326490"/>
            <a:ext cx="594595" cy="1871679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0123EF5-183C-7567-AD3E-D3ACCB62D68A}"/>
              </a:ext>
            </a:extLst>
          </p:cNvPr>
          <p:cNvSpPr/>
          <p:nvPr/>
        </p:nvSpPr>
        <p:spPr>
          <a:xfrm rot="11876644" flipV="1">
            <a:off x="4613035" y="2696297"/>
            <a:ext cx="1657811" cy="698776"/>
          </a:xfrm>
          <a:custGeom>
            <a:avLst/>
            <a:gdLst>
              <a:gd name="csX0" fmla="*/ 0 w 1177447"/>
              <a:gd name="csY0" fmla="*/ 71967 h 385118"/>
              <a:gd name="csX1" fmla="*/ 801666 w 1177447"/>
              <a:gd name="csY1" fmla="*/ 21863 h 385118"/>
              <a:gd name="csX2" fmla="*/ 1177447 w 1177447"/>
              <a:gd name="csY2" fmla="*/ 385118 h 385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77447" h="385118">
                <a:moveTo>
                  <a:pt x="0" y="71967"/>
                </a:moveTo>
                <a:cubicBezTo>
                  <a:pt x="302712" y="20819"/>
                  <a:pt x="605425" y="-30329"/>
                  <a:pt x="801666" y="21863"/>
                </a:cubicBezTo>
                <a:cubicBezTo>
                  <a:pt x="997907" y="74055"/>
                  <a:pt x="1121080" y="328751"/>
                  <a:pt x="1177447" y="385118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7BC4C966-2E10-AF5B-50D2-891A07BAE981}"/>
              </a:ext>
            </a:extLst>
          </p:cNvPr>
          <p:cNvSpPr/>
          <p:nvPr/>
        </p:nvSpPr>
        <p:spPr>
          <a:xfrm>
            <a:off x="3519815" y="2155179"/>
            <a:ext cx="1548814" cy="1042990"/>
          </a:xfrm>
          <a:custGeom>
            <a:avLst/>
            <a:gdLst>
              <a:gd name="csX0" fmla="*/ 0 w 901874"/>
              <a:gd name="csY0" fmla="*/ 459175 h 459175"/>
              <a:gd name="csX1" fmla="*/ 413359 w 901874"/>
              <a:gd name="csY1" fmla="*/ 20764 h 459175"/>
              <a:gd name="csX2" fmla="*/ 901874 w 901874"/>
              <a:gd name="csY2" fmla="*/ 70868 h 459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01874" h="459175">
                <a:moveTo>
                  <a:pt x="0" y="459175"/>
                </a:moveTo>
                <a:cubicBezTo>
                  <a:pt x="131523" y="272328"/>
                  <a:pt x="263047" y="85482"/>
                  <a:pt x="413359" y="20764"/>
                </a:cubicBezTo>
                <a:cubicBezTo>
                  <a:pt x="563671" y="-43954"/>
                  <a:pt x="822543" y="62517"/>
                  <a:pt x="901874" y="70868"/>
                </a:cubicBezTo>
              </a:path>
            </a:pathLst>
          </a:cu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99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D9602BA5-96E1-B886-F319-FABF11951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123" y="194301"/>
            <a:ext cx="6899063" cy="39454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09007A4-0777-8A3F-206E-BD48EE9F51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059" b="46362"/>
          <a:stretch>
            <a:fillRect/>
          </a:stretch>
        </p:blipFill>
        <p:spPr>
          <a:xfrm>
            <a:off x="1229187" y="4504758"/>
            <a:ext cx="9009026" cy="2046207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09C6E20-98F0-A368-AB81-9B0130858375}"/>
              </a:ext>
            </a:extLst>
          </p:cNvPr>
          <p:cNvCxnSpPr/>
          <p:nvPr/>
        </p:nvCxnSpPr>
        <p:spPr>
          <a:xfrm>
            <a:off x="2235895" y="5527861"/>
            <a:ext cx="958242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5AD66D5-8E35-EEC1-327A-75DAD415BBCB}"/>
              </a:ext>
            </a:extLst>
          </p:cNvPr>
          <p:cNvCxnSpPr/>
          <p:nvPr/>
        </p:nvCxnSpPr>
        <p:spPr>
          <a:xfrm flipH="1">
            <a:off x="1490597" y="5527861"/>
            <a:ext cx="745298" cy="1223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CE493B61-C933-F76E-8656-8D64E0017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267435" cy="440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56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59A9C913-64F0-8006-6C7E-A5E835B1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937" y="144197"/>
            <a:ext cx="6899063" cy="394540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6D0ED7-DB1F-9F9B-F392-F78C4BF18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9" t="54503" r="139" b="19993"/>
          <a:stretch>
            <a:fillRect/>
          </a:stretch>
        </p:blipFill>
        <p:spPr>
          <a:xfrm>
            <a:off x="2206217" y="4377612"/>
            <a:ext cx="7445783" cy="24535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1EA970B-3BD3-7284-F63A-E0135366C317}"/>
              </a:ext>
            </a:extLst>
          </p:cNvPr>
          <p:cNvSpPr/>
          <p:nvPr/>
        </p:nvSpPr>
        <p:spPr>
          <a:xfrm>
            <a:off x="4285293" y="5894422"/>
            <a:ext cx="5135671" cy="963578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9E9D6F6-3531-C0DE-2D9C-E5D081A6B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87" y="144197"/>
            <a:ext cx="5002350" cy="3986369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B12EC73-7A32-6251-7168-B9768911F877}"/>
              </a:ext>
            </a:extLst>
          </p:cNvPr>
          <p:cNvCxnSpPr>
            <a:cxnSpLocks/>
          </p:cNvCxnSpPr>
          <p:nvPr/>
        </p:nvCxnSpPr>
        <p:spPr>
          <a:xfrm>
            <a:off x="3048000" y="6324600"/>
            <a:ext cx="508000" cy="506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445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C80456-FFF4-7562-FB90-A6B5D2AD9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0"/>
            <a:ext cx="4441825" cy="3884350"/>
          </a:xfrm>
          <a:prstGeom prst="rect">
            <a:avLst/>
          </a:prstGeom>
        </p:spPr>
      </p:pic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C921433C-20AF-6657-A9B0-16CBD6738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0512"/>
            <a:ext cx="6154043" cy="35193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75DDAE-9560-0BA9-6437-180020CE1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571" y="3884350"/>
            <a:ext cx="6957450" cy="2886496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C70DA7E-5DD0-7893-CE0E-D822F5A8ED85}"/>
              </a:ext>
            </a:extLst>
          </p:cNvPr>
          <p:cNvCxnSpPr>
            <a:cxnSpLocks/>
          </p:cNvCxnSpPr>
          <p:nvPr/>
        </p:nvCxnSpPr>
        <p:spPr>
          <a:xfrm flipH="1">
            <a:off x="7353300" y="5842000"/>
            <a:ext cx="546100" cy="5715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58C4C4ED-2DE8-B7C0-4C73-F7CBDEF28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596" y="6270625"/>
            <a:ext cx="150878" cy="18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16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0DEFEE5-A018-F19C-DDA2-3451F035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34" t="59148" r="13954" b="30159"/>
          <a:stretch>
            <a:fillRect/>
          </a:stretch>
        </p:blipFill>
        <p:spPr>
          <a:xfrm>
            <a:off x="170275" y="3659832"/>
            <a:ext cx="3396211" cy="102646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117E88D-523E-BD65-0DE9-D5C163F18DDE}"/>
              </a:ext>
            </a:extLst>
          </p:cNvPr>
          <p:cNvSpPr txBox="1"/>
          <p:nvPr/>
        </p:nvSpPr>
        <p:spPr>
          <a:xfrm>
            <a:off x="598228" y="3198167"/>
            <a:ext cx="2566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wheel 2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4C2904-143E-E90F-C611-E2C72EB2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17" t="41874" r="8641" b="48197"/>
          <a:stretch>
            <a:fillRect/>
          </a:stretch>
        </p:blipFill>
        <p:spPr>
          <a:xfrm>
            <a:off x="505945" y="1016000"/>
            <a:ext cx="4201975" cy="11557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37CC77-551B-DDE6-7D39-5CD2D0FA4EC3}"/>
              </a:ext>
            </a:extLst>
          </p:cNvPr>
          <p:cNvSpPr txBox="1"/>
          <p:nvPr/>
        </p:nvSpPr>
        <p:spPr>
          <a:xfrm>
            <a:off x="1299850" y="440035"/>
            <a:ext cx="2566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wheel 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03B992-25BC-FF6D-634F-30DB3FECC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288" r="33689"/>
          <a:stretch>
            <a:fillRect/>
          </a:stretch>
        </p:blipFill>
        <p:spPr>
          <a:xfrm>
            <a:off x="5566963" y="554335"/>
            <a:ext cx="5243694" cy="245110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6CB5765-1220-1321-A64C-99CFA50BAD82}"/>
              </a:ext>
            </a:extLst>
          </p:cNvPr>
          <p:cNvSpPr txBox="1"/>
          <p:nvPr/>
        </p:nvSpPr>
        <p:spPr>
          <a:xfrm>
            <a:off x="6746035" y="181570"/>
            <a:ext cx="4146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Steered standard wheel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69293F0-D106-949D-4319-D18EADB37E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3"/>
          <a:stretch>
            <a:fillRect/>
          </a:stretch>
        </p:blipFill>
        <p:spPr>
          <a:xfrm>
            <a:off x="3750315" y="3198167"/>
            <a:ext cx="8411835" cy="35016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50244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4">
            <a:extLst>
              <a:ext uri="{FF2B5EF4-FFF2-40B4-BE49-F238E27FC236}">
                <a16:creationId xmlns:a16="http://schemas.microsoft.com/office/drawing/2014/main" id="{95CE09A5-0095-567A-D6F9-131B2CEB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872"/>
            <a:ext cx="7831478" cy="4478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BF4EA26-6E78-6FD4-4255-3581F4319419}"/>
                  </a:ext>
                </a:extLst>
              </p:cNvPr>
              <p:cNvSpPr txBox="1"/>
              <p:nvPr/>
            </p:nvSpPr>
            <p:spPr>
              <a:xfrm>
                <a:off x="7130263" y="578285"/>
                <a:ext cx="1635384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Parameters: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β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𝓁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BF4EA26-6E78-6FD4-4255-3581F4319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263" y="578285"/>
                <a:ext cx="1635384" cy="3046988"/>
              </a:xfrm>
              <a:prstGeom prst="rect">
                <a:avLst/>
              </a:prstGeom>
              <a:blipFill>
                <a:blip r:embed="rId3"/>
                <a:stretch>
                  <a:fillRect l="-5970" t="-1600" r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1C2C426F-D733-613B-74D8-B57E36F76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3"/>
          <a:stretch>
            <a:fillRect/>
          </a:stretch>
        </p:blipFill>
        <p:spPr>
          <a:xfrm>
            <a:off x="5880099" y="4230477"/>
            <a:ext cx="6311901" cy="26275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02917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896F9E-E2ED-A4C6-4F88-FF8B4D79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62" y="1237047"/>
            <a:ext cx="6814600" cy="5532053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50D296D8-F0D3-920A-C9A8-584875C40AB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24-25 S2 Q3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947DDE-2373-AFC9-85A1-6F6C1D766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23" y="2571231"/>
            <a:ext cx="4146115" cy="392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376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E2101E5-57B9-F947-9EF1-5EA84177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057" y="416243"/>
            <a:ext cx="7752943" cy="60527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9FAB2D-B41B-824A-C58E-481138833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43243"/>
            <a:ext cx="4428388" cy="301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110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70A68-0B7A-D515-08A0-035BABF1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Kalman Filter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C92DD-5308-5C8E-10B5-2055726AA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618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9354A8B-F7CD-4DDA-F76A-F12B2A3BA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5" y="276225"/>
            <a:ext cx="9580368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39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48D55FC-AB71-C850-7C92-A9C937108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53114"/>
            <a:ext cx="9105900" cy="6351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9FB724A-E9FD-0055-E945-7943BA8A73B7}"/>
              </a:ext>
            </a:extLst>
          </p:cNvPr>
          <p:cNvCxnSpPr/>
          <p:nvPr/>
        </p:nvCxnSpPr>
        <p:spPr>
          <a:xfrm>
            <a:off x="2946400" y="1562100"/>
            <a:ext cx="325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2557119-343B-2118-D657-F1185280DA46}"/>
              </a:ext>
            </a:extLst>
          </p:cNvPr>
          <p:cNvCxnSpPr>
            <a:cxnSpLocks/>
          </p:cNvCxnSpPr>
          <p:nvPr/>
        </p:nvCxnSpPr>
        <p:spPr>
          <a:xfrm>
            <a:off x="7531100" y="596900"/>
            <a:ext cx="1562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187E8F8-2507-FA29-B76C-1884049F1295}"/>
              </a:ext>
            </a:extLst>
          </p:cNvPr>
          <p:cNvCxnSpPr>
            <a:cxnSpLocks/>
          </p:cNvCxnSpPr>
          <p:nvPr/>
        </p:nvCxnSpPr>
        <p:spPr>
          <a:xfrm>
            <a:off x="1435100" y="1943100"/>
            <a:ext cx="75565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AD38FEF-908D-CC2B-771A-D28BCD56F0E9}"/>
              </a:ext>
            </a:extLst>
          </p:cNvPr>
          <p:cNvCxnSpPr>
            <a:cxnSpLocks/>
          </p:cNvCxnSpPr>
          <p:nvPr/>
        </p:nvCxnSpPr>
        <p:spPr>
          <a:xfrm>
            <a:off x="508000" y="2298700"/>
            <a:ext cx="927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2EF896-51A5-0BB8-C7FC-F573D030F8A7}"/>
              </a:ext>
            </a:extLst>
          </p:cNvPr>
          <p:cNvCxnSpPr/>
          <p:nvPr/>
        </p:nvCxnSpPr>
        <p:spPr>
          <a:xfrm>
            <a:off x="2597150" y="3276600"/>
            <a:ext cx="325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1E0FC88-4C3B-BFD9-D746-E583B93E4BF2}"/>
              </a:ext>
            </a:extLst>
          </p:cNvPr>
          <p:cNvCxnSpPr>
            <a:cxnSpLocks/>
          </p:cNvCxnSpPr>
          <p:nvPr/>
        </p:nvCxnSpPr>
        <p:spPr>
          <a:xfrm>
            <a:off x="5702300" y="4140200"/>
            <a:ext cx="3390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0089A7F-DFBE-4522-ACA0-844B7D7647F0}"/>
              </a:ext>
            </a:extLst>
          </p:cNvPr>
          <p:cNvCxnSpPr/>
          <p:nvPr/>
        </p:nvCxnSpPr>
        <p:spPr>
          <a:xfrm>
            <a:off x="3257550" y="5588000"/>
            <a:ext cx="325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608B047-AF10-2251-CDB0-48E66AEA84E5}"/>
              </a:ext>
            </a:extLst>
          </p:cNvPr>
          <p:cNvCxnSpPr/>
          <p:nvPr/>
        </p:nvCxnSpPr>
        <p:spPr>
          <a:xfrm>
            <a:off x="3257550" y="6197600"/>
            <a:ext cx="325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CBC032-8FE5-ED59-A205-0B1B8E23DEB1}"/>
                  </a:ext>
                </a:extLst>
              </p:cNvPr>
              <p:cNvSpPr txBox="1"/>
              <p:nvPr/>
            </p:nvSpPr>
            <p:spPr>
              <a:xfrm>
                <a:off x="9330367" y="2953434"/>
                <a:ext cx="26203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Estimation Error: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CBC032-8FE5-ED59-A205-0B1B8E23D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367" y="2953434"/>
                <a:ext cx="2620333" cy="646331"/>
              </a:xfrm>
              <a:prstGeom prst="rect">
                <a:avLst/>
              </a:prstGeom>
              <a:blipFill>
                <a:blip r:embed="rId3"/>
                <a:stretch>
                  <a:fillRect l="-2098" t="-4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23E5FCB-ED80-BA46-6007-C0296422251D}"/>
                  </a:ext>
                </a:extLst>
              </p:cNvPr>
              <p:cNvSpPr txBox="1"/>
              <p:nvPr/>
            </p:nvSpPr>
            <p:spPr>
              <a:xfrm>
                <a:off x="9545554" y="3697984"/>
                <a:ext cx="218995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23E5FCB-ED80-BA46-6007-C02964222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554" y="3697984"/>
                <a:ext cx="2189958" cy="646331"/>
              </a:xfrm>
              <a:prstGeom prst="rect">
                <a:avLst/>
              </a:prstGeom>
              <a:blipFill>
                <a:blip r:embed="rId4"/>
                <a:stretch>
                  <a:fillRect l="-2507" t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37DC565-D734-73A9-5FF1-CEED961B7276}"/>
                  </a:ext>
                </a:extLst>
              </p:cNvPr>
              <p:cNvSpPr txBox="1"/>
              <p:nvPr/>
            </p:nvSpPr>
            <p:spPr>
              <a:xfrm>
                <a:off x="9636540" y="4630914"/>
                <a:ext cx="2007986" cy="942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</m:t>
                      </m:r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37DC565-D734-73A9-5FF1-CEED961B7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540" y="4630914"/>
                <a:ext cx="2007986" cy="942822"/>
              </a:xfrm>
              <a:prstGeom prst="rect">
                <a:avLst/>
              </a:prstGeom>
              <a:blipFill>
                <a:blip r:embed="rId5"/>
                <a:stretch>
                  <a:fillRect l="-2736" t="-3896" r="-1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982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730DFD8-893A-8085-6CE2-B88CFA52F3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141971" y="0"/>
            <a:ext cx="11908058" cy="16222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E2F63CE-46A8-3B1E-36B3-5D3A5BBD2E99}"/>
                  </a:ext>
                </a:extLst>
              </p:cNvPr>
              <p:cNvSpPr txBox="1"/>
              <p:nvPr/>
            </p:nvSpPr>
            <p:spPr>
              <a:xfrm>
                <a:off x="1765300" y="2044700"/>
                <a:ext cx="384804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Estimation Error: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E2F63CE-46A8-3B1E-36B3-5D3A5BBD2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300" y="2044700"/>
                <a:ext cx="3848041" cy="954107"/>
              </a:xfrm>
              <a:prstGeom prst="rect">
                <a:avLst/>
              </a:prstGeom>
              <a:blipFill>
                <a:blip r:embed="rId4"/>
                <a:stretch>
                  <a:fillRect l="-3328" t="-6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ACF266-76A3-D020-28B2-47FE3F09A9E3}"/>
                  </a:ext>
                </a:extLst>
              </p:cNvPr>
              <p:cNvSpPr txBox="1"/>
              <p:nvPr/>
            </p:nvSpPr>
            <p:spPr>
              <a:xfrm>
                <a:off x="2042408" y="3271850"/>
                <a:ext cx="297248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DACF266-76A3-D020-28B2-47FE3F09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408" y="3271850"/>
                <a:ext cx="2972480" cy="954107"/>
              </a:xfrm>
              <a:prstGeom prst="rect">
                <a:avLst/>
              </a:prstGeom>
              <a:blipFill>
                <a:blip r:embed="rId5"/>
                <a:stretch>
                  <a:fillRect l="-4098" t="-7051" r="-2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CA43CC-4CA8-EE0D-A94A-F3209113D551}"/>
                  </a:ext>
                </a:extLst>
              </p:cNvPr>
              <p:cNvSpPr txBox="1"/>
              <p:nvPr/>
            </p:nvSpPr>
            <p:spPr>
              <a:xfrm>
                <a:off x="2146299" y="4499000"/>
                <a:ext cx="3060453" cy="1415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</m:t>
                      </m:r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CA43CC-4CA8-EE0D-A94A-F3209113D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299" y="4499000"/>
                <a:ext cx="3060453" cy="1415259"/>
              </a:xfrm>
              <a:prstGeom prst="rect">
                <a:avLst/>
              </a:prstGeom>
              <a:blipFill>
                <a:blip r:embed="rId6"/>
                <a:stretch>
                  <a:fillRect l="-3984" t="-4310" r="-1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6103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4E70CC0-BEDC-78F8-AB86-C0F03B2A0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92" y="3674377"/>
            <a:ext cx="8357008" cy="3183623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3612BB8-778C-11D4-6CEB-54E562F64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09"/>
          <a:stretch>
            <a:fillRect/>
          </a:stretch>
        </p:blipFill>
        <p:spPr bwMode="auto">
          <a:xfrm>
            <a:off x="4111317" y="0"/>
            <a:ext cx="8080683" cy="471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9D296AD-936E-7C7C-C288-8699AD638CA0}"/>
              </a:ext>
            </a:extLst>
          </p:cNvPr>
          <p:cNvCxnSpPr/>
          <p:nvPr/>
        </p:nvCxnSpPr>
        <p:spPr>
          <a:xfrm>
            <a:off x="10782300" y="330200"/>
            <a:ext cx="118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0A2381F-772D-102D-0E58-940FB728E7DB}"/>
              </a:ext>
            </a:extLst>
          </p:cNvPr>
          <p:cNvCxnSpPr>
            <a:cxnSpLocks/>
          </p:cNvCxnSpPr>
          <p:nvPr/>
        </p:nvCxnSpPr>
        <p:spPr>
          <a:xfrm>
            <a:off x="6527800" y="4711700"/>
            <a:ext cx="3327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411CF74-24E8-E7C0-F931-E65977E28619}"/>
              </a:ext>
            </a:extLst>
          </p:cNvPr>
          <p:cNvSpPr txBox="1"/>
          <p:nvPr/>
        </p:nvSpPr>
        <p:spPr>
          <a:xfrm flipH="1">
            <a:off x="228600" y="207123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strategy 1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A35A250-298E-154D-04ED-8ECC518A47A9}"/>
              </a:ext>
            </a:extLst>
          </p:cNvPr>
          <p:cNvCxnSpPr>
            <a:cxnSpLocks/>
          </p:cNvCxnSpPr>
          <p:nvPr/>
        </p:nvCxnSpPr>
        <p:spPr>
          <a:xfrm>
            <a:off x="6527800" y="1193800"/>
            <a:ext cx="3327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E5BB4F3-3248-2E8F-F5EE-FF1A86388AE5}"/>
              </a:ext>
            </a:extLst>
          </p:cNvPr>
          <p:cNvCxnSpPr>
            <a:cxnSpLocks/>
          </p:cNvCxnSpPr>
          <p:nvPr/>
        </p:nvCxnSpPr>
        <p:spPr>
          <a:xfrm>
            <a:off x="6096000" y="2679700"/>
            <a:ext cx="3327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889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4DF2E3-0856-B9A3-1CC3-7CBAB192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9199"/>
            <a:ext cx="6580957" cy="3098801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14D5D0C-1F7E-F37E-E1B9-C48CB85D34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09"/>
          <a:stretch>
            <a:fillRect/>
          </a:stretch>
        </p:blipFill>
        <p:spPr bwMode="auto">
          <a:xfrm>
            <a:off x="4701176" y="0"/>
            <a:ext cx="7579724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FBB17D7-77B5-AC44-3E12-C832A1E4F905}"/>
              </a:ext>
            </a:extLst>
          </p:cNvPr>
          <p:cNvCxnSpPr>
            <a:cxnSpLocks/>
          </p:cNvCxnSpPr>
          <p:nvPr/>
        </p:nvCxnSpPr>
        <p:spPr>
          <a:xfrm>
            <a:off x="5664200" y="1422400"/>
            <a:ext cx="626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85CBD71-2C2B-A1FF-8710-6C3A4205E136}"/>
              </a:ext>
            </a:extLst>
          </p:cNvPr>
          <p:cNvCxnSpPr/>
          <p:nvPr/>
        </p:nvCxnSpPr>
        <p:spPr>
          <a:xfrm>
            <a:off x="5073650" y="1765300"/>
            <a:ext cx="118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503F37F8-E8AD-3637-8022-AA81AFC2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2" y="558166"/>
            <a:ext cx="4993187" cy="137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67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1A1D29-EFC0-FF42-22F8-A80C9F33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41" y="1091126"/>
            <a:ext cx="8656903" cy="336657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7C82BB8-578E-38A0-8A49-C4EA75FD441D}"/>
              </a:ext>
            </a:extLst>
          </p:cNvPr>
          <p:cNvSpPr/>
          <p:nvPr/>
        </p:nvSpPr>
        <p:spPr>
          <a:xfrm>
            <a:off x="3548233" y="3632200"/>
            <a:ext cx="1590259" cy="825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006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E7EF5-CBE7-76C7-A010-A46D089E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FA7876-C368-BD74-6E06-68772F299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4536436"/>
            <a:ext cx="6769100" cy="2219378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F24C3CC5-CDF6-BF36-FAFD-CB38161EDA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95"/>
          <a:stretch>
            <a:fillRect/>
          </a:stretch>
        </p:blipFill>
        <p:spPr bwMode="auto">
          <a:xfrm>
            <a:off x="4228147" y="0"/>
            <a:ext cx="7963854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EBC1A45-B566-81EE-0D90-086E73C0B8D0}"/>
              </a:ext>
            </a:extLst>
          </p:cNvPr>
          <p:cNvCxnSpPr/>
          <p:nvPr/>
        </p:nvCxnSpPr>
        <p:spPr>
          <a:xfrm>
            <a:off x="10782300" y="330200"/>
            <a:ext cx="118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8FA2E7E-01E8-6CD4-F02A-AE61884BD1D8}"/>
              </a:ext>
            </a:extLst>
          </p:cNvPr>
          <p:cNvCxnSpPr>
            <a:cxnSpLocks/>
          </p:cNvCxnSpPr>
          <p:nvPr/>
        </p:nvCxnSpPr>
        <p:spPr>
          <a:xfrm>
            <a:off x="6743700" y="5194300"/>
            <a:ext cx="3327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A765D7A-9D49-4DAC-23C9-70A57A00B1A6}"/>
              </a:ext>
            </a:extLst>
          </p:cNvPr>
          <p:cNvSpPr txBox="1"/>
          <p:nvPr/>
        </p:nvSpPr>
        <p:spPr>
          <a:xfrm flipH="1">
            <a:off x="228600" y="207123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strategy 2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16C4ED2-78C0-30D7-53DE-11832D3925B5}"/>
              </a:ext>
            </a:extLst>
          </p:cNvPr>
          <p:cNvCxnSpPr>
            <a:cxnSpLocks/>
          </p:cNvCxnSpPr>
          <p:nvPr/>
        </p:nvCxnSpPr>
        <p:spPr>
          <a:xfrm>
            <a:off x="6350000" y="2654300"/>
            <a:ext cx="3327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B57FD38-E567-7F7D-17E0-BAA3B3FC29BC}"/>
              </a:ext>
            </a:extLst>
          </p:cNvPr>
          <p:cNvCxnSpPr>
            <a:cxnSpLocks/>
          </p:cNvCxnSpPr>
          <p:nvPr/>
        </p:nvCxnSpPr>
        <p:spPr>
          <a:xfrm>
            <a:off x="6629400" y="1219200"/>
            <a:ext cx="3327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86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9A080-A189-5904-2829-737FCE77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4C385C1-15EE-3A51-2EB1-E6A16B29E0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09"/>
          <a:stretch>
            <a:fillRect/>
          </a:stretch>
        </p:blipFill>
        <p:spPr bwMode="auto">
          <a:xfrm>
            <a:off x="4701176" y="0"/>
            <a:ext cx="7579724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205240A-FF8B-6846-07AB-3B509843F7E1}"/>
              </a:ext>
            </a:extLst>
          </p:cNvPr>
          <p:cNvCxnSpPr>
            <a:cxnSpLocks/>
          </p:cNvCxnSpPr>
          <p:nvPr/>
        </p:nvCxnSpPr>
        <p:spPr>
          <a:xfrm>
            <a:off x="5664200" y="1422400"/>
            <a:ext cx="626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A513A59-6662-0CE6-733D-7E2AF24045CC}"/>
              </a:ext>
            </a:extLst>
          </p:cNvPr>
          <p:cNvCxnSpPr/>
          <p:nvPr/>
        </p:nvCxnSpPr>
        <p:spPr>
          <a:xfrm>
            <a:off x="5073650" y="1765300"/>
            <a:ext cx="118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4E2D0A34-AE27-5C05-AC04-E89A2E81C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2" y="558166"/>
            <a:ext cx="4993187" cy="137263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BD5350E-3E2E-5DDF-AC3F-363420141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70" y="4298538"/>
            <a:ext cx="8306929" cy="235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955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CC816A-D92C-3053-FE44-F39FFD87D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14" y="433528"/>
            <a:ext cx="10982391" cy="3249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C89DDA9-8C80-93DF-BB3C-8119A6B3640B}"/>
                  </a:ext>
                </a:extLst>
              </p:cNvPr>
              <p:cNvSpPr txBox="1"/>
              <p:nvPr/>
            </p:nvSpPr>
            <p:spPr>
              <a:xfrm>
                <a:off x="1210544" y="4310924"/>
                <a:ext cx="4670574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zh-CN" alt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  <m:sSup>
                                  <m:sSup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C89DDA9-8C80-93DF-BB3C-8119A6B36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544" y="4310924"/>
                <a:ext cx="4670574" cy="959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EE3F0511-3B8A-E627-3471-21680A21B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653" y="4022825"/>
            <a:ext cx="5310347" cy="18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16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04D40B9-1FCA-93A6-71EE-797E9FCE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72" y="1502592"/>
            <a:ext cx="4552027" cy="160890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FDF8B58-8B7C-7908-A26F-10B68ED84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71" y="742909"/>
            <a:ext cx="6192284" cy="52700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34B2469-A0F6-7F3C-BD93-3C0267E2B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503" y="3642654"/>
            <a:ext cx="5581998" cy="7521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F6865AA-9C05-84D2-0CB4-392E7050A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972" y="4663276"/>
            <a:ext cx="5017552" cy="11329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9BD1362-C269-3878-F319-DC1D843E632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519" r="20707"/>
          <a:stretch>
            <a:fillRect/>
          </a:stretch>
        </p:blipFill>
        <p:spPr>
          <a:xfrm>
            <a:off x="6993101" y="1938826"/>
            <a:ext cx="4586620" cy="25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172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CCAF966-EE88-F5A9-7D94-E14BC40DBB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28" b="3672"/>
          <a:stretch>
            <a:fillRect/>
          </a:stretch>
        </p:blipFill>
        <p:spPr>
          <a:xfrm>
            <a:off x="141971" y="162838"/>
            <a:ext cx="11908058" cy="162225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2FBB881-617E-ACD8-13BF-8D3F86E14753}"/>
              </a:ext>
            </a:extLst>
          </p:cNvPr>
          <p:cNvSpPr txBox="1"/>
          <p:nvPr/>
        </p:nvSpPr>
        <p:spPr>
          <a:xfrm flipH="1">
            <a:off x="1174487" y="1724152"/>
            <a:ext cx="8591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 for each sensor    VS    Single Gain for each sensor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10C503-9DA8-220E-727A-FA2B0470EF2D}"/>
              </a:ext>
            </a:extLst>
          </p:cNvPr>
          <p:cNvSpPr txBox="1"/>
          <p:nvPr/>
        </p:nvSpPr>
        <p:spPr>
          <a:xfrm flipH="1">
            <a:off x="3631247" y="2265481"/>
            <a:ext cx="4206795" cy="850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possible error variance</a:t>
            </a:r>
          </a:p>
          <a:p>
            <a:pPr algn="l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computation resource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161FF9-5EF7-9D81-9CC1-90D389580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73" y="3803552"/>
            <a:ext cx="3132680" cy="11072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A4EA080-A235-7098-9C85-7B3EBBC72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71" y="3346409"/>
            <a:ext cx="5371429" cy="4571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5CCCD6-73DA-F517-EFBC-AB255CD33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002" y="3160085"/>
            <a:ext cx="5581998" cy="7521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B70BBC7-E9BF-9C6D-B3F8-6258560BDF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7878" y="3912269"/>
            <a:ext cx="4166245" cy="940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46278B5-CF03-9B6C-5610-94B1498A73B8}"/>
                  </a:ext>
                </a:extLst>
              </p:cNvPr>
              <p:cNvSpPr txBox="1"/>
              <p:nvPr/>
            </p:nvSpPr>
            <p:spPr>
              <a:xfrm>
                <a:off x="125142" y="4896537"/>
                <a:ext cx="4462697" cy="1265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+9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46278B5-CF03-9B6C-5610-94B1498A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42" y="4896537"/>
                <a:ext cx="4462697" cy="12652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2163563-ADBF-6B88-7B98-3BD25314E006}"/>
                  </a:ext>
                </a:extLst>
              </p:cNvPr>
              <p:cNvSpPr txBox="1"/>
              <p:nvPr/>
            </p:nvSpPr>
            <p:spPr>
              <a:xfrm>
                <a:off x="7317878" y="4886537"/>
                <a:ext cx="3593676" cy="1265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+5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2163563-ADBF-6B88-7B98-3BD25314E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878" y="4886537"/>
                <a:ext cx="3593676" cy="12652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8633821-6625-8968-5453-3EDD94755CC5}"/>
                  </a:ext>
                </a:extLst>
              </p:cNvPr>
              <p:cNvSpPr txBox="1"/>
              <p:nvPr/>
            </p:nvSpPr>
            <p:spPr>
              <a:xfrm>
                <a:off x="4161727" y="5605218"/>
                <a:ext cx="3582263" cy="895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+9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&lt;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+5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8633821-6625-8968-5453-3EDD94755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727" y="5605218"/>
                <a:ext cx="3582263" cy="895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743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473218C-7B89-8DAE-F218-17984B476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0" y="134605"/>
            <a:ext cx="7594600" cy="6358270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68F48E22-C196-0B94-F4BE-A9C16B6528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24-25 S2 Q5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949BBDB-7368-6194-1BD6-646CF3ED9658}"/>
                  </a:ext>
                </a:extLst>
              </p:cNvPr>
              <p:cNvSpPr txBox="1"/>
              <p:nvPr/>
            </p:nvSpPr>
            <p:spPr>
              <a:xfrm>
                <a:off x="698559" y="1921208"/>
                <a:ext cx="384804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Estimation Error: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949BBDB-7368-6194-1BD6-646CF3ED9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59" y="1921208"/>
                <a:ext cx="3848041" cy="954107"/>
              </a:xfrm>
              <a:prstGeom prst="rect">
                <a:avLst/>
              </a:prstGeom>
              <a:blipFill>
                <a:blip r:embed="rId3"/>
                <a:stretch>
                  <a:fillRect l="-3328" t="-6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05C4A5E-CFB1-2424-163D-AD85F8D34D3D}"/>
                  </a:ext>
                </a:extLst>
              </p:cNvPr>
              <p:cNvSpPr txBox="1"/>
              <p:nvPr/>
            </p:nvSpPr>
            <p:spPr>
              <a:xfrm>
                <a:off x="975667" y="3148358"/>
                <a:ext cx="297248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05C4A5E-CFB1-2424-163D-AD85F8D34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7" y="3148358"/>
                <a:ext cx="2972480" cy="954107"/>
              </a:xfrm>
              <a:prstGeom prst="rect">
                <a:avLst/>
              </a:prstGeom>
              <a:blipFill>
                <a:blip r:embed="rId4"/>
                <a:stretch>
                  <a:fillRect l="-4098" t="-6369" r="-2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4EA3BF9-ECC1-7143-0033-572E260CEC5A}"/>
                  </a:ext>
                </a:extLst>
              </p:cNvPr>
              <p:cNvSpPr txBox="1"/>
              <p:nvPr/>
            </p:nvSpPr>
            <p:spPr>
              <a:xfrm>
                <a:off x="1079558" y="4375508"/>
                <a:ext cx="3060453" cy="1415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</m:t>
                      </m:r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4EA3BF9-ECC1-7143-0033-572E260CE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58" y="4375508"/>
                <a:ext cx="3060453" cy="1415259"/>
              </a:xfrm>
              <a:prstGeom prst="rect">
                <a:avLst/>
              </a:prstGeom>
              <a:blipFill>
                <a:blip r:embed="rId5"/>
                <a:stretch>
                  <a:fillRect l="-3984" t="-4741" r="-1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4762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918D81-ABEA-60DD-4B6E-C85C9B18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656"/>
            <a:ext cx="7042338" cy="43731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645C9A-2516-1968-7962-93546452C282}"/>
                  </a:ext>
                </a:extLst>
              </p:cNvPr>
              <p:cNvSpPr txBox="1"/>
              <p:nvPr/>
            </p:nvSpPr>
            <p:spPr>
              <a:xfrm>
                <a:off x="641687" y="5625587"/>
                <a:ext cx="26203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Estimation Error: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645C9A-2516-1968-7962-93546452C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7" y="5625587"/>
                <a:ext cx="2620333" cy="646331"/>
              </a:xfrm>
              <a:prstGeom prst="rect">
                <a:avLst/>
              </a:prstGeom>
              <a:blipFill>
                <a:blip r:embed="rId4"/>
                <a:stretch>
                  <a:fillRect l="-1860" t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324FD3-A1EC-3528-BB6C-914964A58D2D}"/>
                  </a:ext>
                </a:extLst>
              </p:cNvPr>
              <p:cNvSpPr txBox="1"/>
              <p:nvPr/>
            </p:nvSpPr>
            <p:spPr>
              <a:xfrm>
                <a:off x="3906042" y="5625587"/>
                <a:ext cx="218995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324FD3-A1EC-3528-BB6C-914964A58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42" y="5625587"/>
                <a:ext cx="2189958" cy="646331"/>
              </a:xfrm>
              <a:prstGeom prst="rect">
                <a:avLst/>
              </a:prstGeom>
              <a:blipFill>
                <a:blip r:embed="rId5"/>
                <a:stretch>
                  <a:fillRect l="-2507" t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3F8B12B-8C15-FF20-81C4-FEE7BC775347}"/>
                  </a:ext>
                </a:extLst>
              </p:cNvPr>
              <p:cNvSpPr txBox="1"/>
              <p:nvPr/>
            </p:nvSpPr>
            <p:spPr>
              <a:xfrm>
                <a:off x="6565900" y="5477341"/>
                <a:ext cx="2007986" cy="942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Variance: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zh-CN" alt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</m:t>
                      </m:r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3F8B12B-8C15-FF20-81C4-FEE7BC775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900" y="5477341"/>
                <a:ext cx="2007986" cy="942822"/>
              </a:xfrm>
              <a:prstGeom prst="rect">
                <a:avLst/>
              </a:prstGeom>
              <a:blipFill>
                <a:blip r:embed="rId6"/>
                <a:stretch>
                  <a:fillRect l="-2432" t="-3896" r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84FD18CA-1C9F-8862-2806-49FF35911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3"/>
          <a:stretch>
            <a:fillRect/>
          </a:stretch>
        </p:blipFill>
        <p:spPr>
          <a:xfrm>
            <a:off x="6565900" y="0"/>
            <a:ext cx="5636019" cy="51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794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DB155E-D57D-CD82-DBF8-9E603380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91" y="398751"/>
            <a:ext cx="9702553" cy="14520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6A3DE9-BB03-9430-C633-0C2B46E2AA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79"/>
          <a:stretch>
            <a:fillRect/>
          </a:stretch>
        </p:blipFill>
        <p:spPr>
          <a:xfrm>
            <a:off x="2013317" y="2056112"/>
            <a:ext cx="7085714" cy="221303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6F3EF0-36BE-5213-C567-5BEF9E0ED259}"/>
              </a:ext>
            </a:extLst>
          </p:cNvPr>
          <p:cNvSpPr/>
          <p:nvPr/>
        </p:nvSpPr>
        <p:spPr>
          <a:xfrm>
            <a:off x="4307595" y="2056112"/>
            <a:ext cx="4791436" cy="21302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290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7C9128-017F-9C87-85A2-27E9579B3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5" y="561861"/>
            <a:ext cx="8377596" cy="37924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0C5065-D030-554E-3621-D7BB4D822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6" b="-1334"/>
          <a:stretch>
            <a:fillRect/>
          </a:stretch>
        </p:blipFill>
        <p:spPr>
          <a:xfrm>
            <a:off x="6495607" y="1619795"/>
            <a:ext cx="5696393" cy="523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58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86EF4-54C1-9405-7268-6A572F52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Structure and Pose Estimation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51048-2937-2361-2425-DDE466EE0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8368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BC801F-7625-A037-229B-635AE68F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Difference between E and H</a:t>
            </a:r>
            <a:endParaRPr lang="zh-CN" altLang="en-US" dirty="0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C56ACD2F-1736-9342-2166-82BF4E6B0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6778" y="1962899"/>
            <a:ext cx="9059926" cy="381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988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56D53D-B929-0452-6124-748B213E9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70" y="302786"/>
            <a:ext cx="7871985" cy="625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296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3A02435-6DDF-4875-2CE4-24B0AD3F2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2" y="297456"/>
            <a:ext cx="7690925" cy="637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85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712793B-7308-DC5E-B922-02A11B20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5932"/>
            <a:ext cx="9144000" cy="986136"/>
          </a:xfrm>
        </p:spPr>
        <p:txBody>
          <a:bodyPr/>
          <a:lstStyle/>
          <a:p>
            <a:r>
              <a:rPr lang="en-US" altLang="zh-CN" dirty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547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2261</TotalTime>
  <Words>909</Words>
  <Application>Microsoft Office PowerPoint</Application>
  <PresentationFormat>宽屏</PresentationFormat>
  <Paragraphs>184</Paragraphs>
  <Slides>55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1" baseType="lpstr">
      <vt:lpstr>等线</vt:lpstr>
      <vt:lpstr>等线 Light</vt:lpstr>
      <vt:lpstr>Arial</vt:lpstr>
      <vt:lpstr>Cambria Math</vt:lpstr>
      <vt:lpstr>Times New Roman</vt:lpstr>
      <vt:lpstr>Office 主题​​</vt:lpstr>
      <vt:lpstr>6221 tutor2</vt:lpstr>
      <vt:lpstr>quiz</vt:lpstr>
      <vt:lpstr>PowerPoint 演示文稿</vt:lpstr>
      <vt:lpstr>Question answer</vt:lpstr>
      <vt:lpstr>Question answer</vt:lpstr>
      <vt:lpstr>Question answer</vt:lpstr>
      <vt:lpstr>Question answer</vt:lpstr>
      <vt:lpstr>Question answer</vt:lpstr>
      <vt:lpstr>Multiple choice question </vt:lpstr>
      <vt:lpstr>Lec1 Page12-15</vt:lpstr>
      <vt:lpstr>3 Mobile Robots</vt:lpstr>
      <vt:lpstr>PowerPoint 演示文稿</vt:lpstr>
      <vt:lpstr>Mobile Robots</vt:lpstr>
      <vt:lpstr>Basic wheel types</vt:lpstr>
      <vt:lpstr>Fixed standard wheel</vt:lpstr>
      <vt:lpstr>Fixed standard wheel</vt:lpstr>
      <vt:lpstr>Fixed standard wheel</vt:lpstr>
      <vt:lpstr>Fixed standard wheel</vt:lpstr>
      <vt:lpstr>Steered standard wheel</vt:lpstr>
      <vt:lpstr>Castor wheel</vt:lpstr>
      <vt:lpstr>Castor wheel</vt:lpstr>
      <vt:lpstr>Formula</vt:lpstr>
      <vt:lpstr>24-25 S1 Q3</vt:lpstr>
      <vt:lpstr>24-25 S1 Q3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Kalman Filter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Structure and Pose Estimation</vt:lpstr>
      <vt:lpstr>Difference between E and H</vt:lpstr>
      <vt:lpstr>PowerPoint 演示文稿</vt:lpstr>
      <vt:lpstr>PowerPoint 演示文稿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月 尹</dc:creator>
  <cp:lastModifiedBy>#YIN YUE#</cp:lastModifiedBy>
  <cp:revision>20</cp:revision>
  <dcterms:created xsi:type="dcterms:W3CDTF">2026-03-15T02:36:01Z</dcterms:created>
  <dcterms:modified xsi:type="dcterms:W3CDTF">2026-05-13T15:46:48Z</dcterms:modified>
</cp:coreProperties>
</file>