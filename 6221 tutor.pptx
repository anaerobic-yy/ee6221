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1"/>
  </p:notesMasterIdLst>
  <p:sldIdLst>
    <p:sldId id="257" r:id="rId2"/>
    <p:sldId id="258" r:id="rId3"/>
    <p:sldId id="283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  <p:sldId id="275" r:id="rId19"/>
    <p:sldId id="276" r:id="rId20"/>
    <p:sldId id="279" r:id="rId21"/>
    <p:sldId id="305" r:id="rId22"/>
    <p:sldId id="277" r:id="rId23"/>
    <p:sldId id="278" r:id="rId24"/>
    <p:sldId id="280" r:id="rId25"/>
    <p:sldId id="287" r:id="rId26"/>
    <p:sldId id="296" r:id="rId27"/>
    <p:sldId id="284" r:id="rId28"/>
    <p:sldId id="286" r:id="rId29"/>
    <p:sldId id="282" r:id="rId30"/>
    <p:sldId id="285" r:id="rId31"/>
    <p:sldId id="288" r:id="rId32"/>
    <p:sldId id="289" r:id="rId33"/>
    <p:sldId id="294" r:id="rId34"/>
    <p:sldId id="295" r:id="rId35"/>
    <p:sldId id="310" r:id="rId36"/>
    <p:sldId id="293" r:id="rId37"/>
    <p:sldId id="311" r:id="rId38"/>
    <p:sldId id="312" r:id="rId39"/>
    <p:sldId id="313" r:id="rId40"/>
    <p:sldId id="314" r:id="rId41"/>
    <p:sldId id="315" r:id="rId42"/>
    <p:sldId id="316" r:id="rId43"/>
    <p:sldId id="323" r:id="rId44"/>
    <p:sldId id="317" r:id="rId45"/>
    <p:sldId id="318" r:id="rId46"/>
    <p:sldId id="319" r:id="rId47"/>
    <p:sldId id="321" r:id="rId48"/>
    <p:sldId id="320" r:id="rId49"/>
    <p:sldId id="322" r:id="rId50"/>
    <p:sldId id="290" r:id="rId51"/>
    <p:sldId id="292" r:id="rId52"/>
    <p:sldId id="298" r:id="rId53"/>
    <p:sldId id="299" r:id="rId54"/>
    <p:sldId id="300" r:id="rId55"/>
    <p:sldId id="302" r:id="rId56"/>
    <p:sldId id="303" r:id="rId57"/>
    <p:sldId id="304" r:id="rId58"/>
    <p:sldId id="306" r:id="rId59"/>
    <p:sldId id="272" r:id="rId6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5839" autoAdjust="0"/>
  </p:normalViewPr>
  <p:slideViewPr>
    <p:cSldViewPr snapToGrid="0">
      <p:cViewPr varScale="1">
        <p:scale>
          <a:sx n="49" d="100"/>
          <a:sy n="49" d="100"/>
        </p:scale>
        <p:origin x="131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14CE6B-7453-449C-AA21-C5B1F0268AD3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BC992A-CB1A-471A-A82E-C379A4FF04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5303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仅关注考试范围内的内容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165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Same problem in your quiz 1</a:t>
            </a:r>
          </a:p>
          <a:p>
            <a:r>
              <a:rPr lang="en-US" altLang="zh-CN" dirty="0"/>
              <a:t>Obtain the link coordinate diagram using dh algorithm</a:t>
            </a:r>
          </a:p>
          <a:p>
            <a:r>
              <a:rPr lang="en-US" altLang="zh-CN" dirty="0"/>
              <a:t>B: derive the kinematic parameters or transformation matrix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21509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61230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83291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12755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26808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This problem always occur in problem3 b.</a:t>
            </a:r>
          </a:p>
          <a:p>
            <a:r>
              <a:rPr lang="en-US" altLang="zh-CN" dirty="0"/>
              <a:t>S = sin, c = cos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50285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5C220-B0C2-AF69-EB24-578E13E9F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F363600-526D-BFF5-2FAF-4DB813075A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C386B79-1BCC-E8B1-DBBC-3E4E49F64C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红色的是位置向量，蓝色的是旋转向量。</a:t>
            </a:r>
          </a:p>
          <a:p>
            <a:r>
              <a:rPr lang="zh-CN" altLang="en-US" dirty="0"/>
              <a:t>我们可以推导出六维向量 </a:t>
            </a:r>
            <a:r>
              <a:rPr lang="en-US" altLang="zh-CN" dirty="0"/>
              <a:t>w</a:t>
            </a:r>
            <a:r>
              <a:rPr lang="zh-CN" altLang="en-US" dirty="0"/>
              <a:t>。避免冗余的式子。</a:t>
            </a:r>
          </a:p>
          <a:p>
            <a:r>
              <a:rPr lang="zh-CN" altLang="en-US" dirty="0"/>
              <a:t>将给定的矩阵代入公式。</a:t>
            </a:r>
          </a:p>
          <a:p>
            <a:r>
              <a:rPr lang="en-US" altLang="zh-CN" dirty="0"/>
              <a:t>Homogeneous transformation matrices</a:t>
            </a:r>
            <a:r>
              <a:rPr lang="zh-CN" altLang="en-US" dirty="0"/>
              <a:t>转换到</a:t>
            </a:r>
            <a:r>
              <a:rPr lang="en-US" altLang="zh-CN" dirty="0"/>
              <a:t>tool configuration matrix</a:t>
            </a:r>
            <a:r>
              <a:rPr lang="zh-CN" altLang="en-US" dirty="0"/>
              <a:t>的过程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DE2CC2-9BFB-41E1-AC9B-BFC37AD389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61588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If we need to solve q1-q4, we can differentiate w(q), this yields the following Jacobian matrix.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4421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21EB2-7AB3-1C64-388A-F37306807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4E17E7B-70F4-470B-6173-E75DFB453C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1FFECE3-AAA1-82A3-E152-3AD06E37B2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Partial differentiate focus on q1, other parameters are coefficient.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562A05-CEBA-2221-2775-75D142654F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21800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3316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 first three rows equal to your given </a:t>
            </a:r>
            <a:r>
              <a:rPr lang="en-US" altLang="zh-CN" dirty="0" err="1"/>
              <a:t>x,y,z</a:t>
            </a:r>
            <a:r>
              <a:rPr lang="en-US" altLang="zh-CN" dirty="0"/>
              <a:t>, represent the position of the tool</a:t>
            </a:r>
          </a:p>
          <a:p>
            <a:r>
              <a:rPr lang="en-US" altLang="zh-CN" dirty="0"/>
              <a:t>Solve the simultaneous equations.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89386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80199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7821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要让机器人按预定轨迹运动，必须精确计算出需要施加的输入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τ</a:t>
                </a:r>
                <a:r>
                  <a:rPr lang="en-US" altLang="zh-CN" dirty="0"/>
                  <a:t>	</a:t>
                </a:r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关节力矩</a:t>
                </a:r>
                <a:r>
                  <a:rPr lang="en-US" altLang="zh-CN" dirty="0"/>
                  <a:t>/</a:t>
                </a:r>
                <a:r>
                  <a:rPr lang="zh-CN" altLang="en-US" dirty="0"/>
                  <a:t>力</a:t>
                </a:r>
                <a:endParaRPr lang="en-US" altLang="zh-CN" dirty="0"/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这个方程的含义是：要让机器人按预定轨迹运动，必须精确计算出需要施加的力 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𝜏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</a:t>
                </a:r>
                <a:endParaRPr lang="en-US" altLang="zh-CN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en-US" dirty="0"/>
                  <a:t>关节的角度，</a:t>
                </a:r>
                <a:r>
                  <a:rPr lang="en-US" altLang="zh-CN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θ˙</a:t>
                </a:r>
                <a:r>
                  <a:rPr lang="zh-CN" altLang="en-US" dirty="0"/>
                  <a:t>是角速度，</a:t>
                </a:r>
                <a:r>
                  <a:rPr lang="en-US" altLang="zh-CN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θ¨</a:t>
                </a:r>
                <a:r>
                  <a:rPr lang="zh-CN" altLang="en-US" dirty="0"/>
                  <a:t>是角加速度。</a:t>
                </a:r>
                <a:r>
                  <a:rPr lang="el-GR" altLang="zh-CN" dirty="0"/>
                  <a:t>Τ</a:t>
                </a:r>
                <a:r>
                  <a:rPr lang="zh-CN" altLang="en-US" dirty="0"/>
                  <a:t>是关节的输入，是我们能控制的</a:t>
                </a:r>
                <a:endParaRPr lang="en-US" altLang="zh-CN" dirty="0"/>
              </a:p>
              <a:p>
                <a:r>
                  <a:rPr lang="zh-CN" altLang="en-US" dirty="0"/>
                  <a:t>胳膊伸直和弯着，甩起来的惯性完全不一样</a:t>
                </a:r>
                <a:r>
                  <a:rPr lang="en-US" altLang="zh-CN" dirty="0"/>
                  <a:t>--》</a:t>
                </a:r>
                <a:r>
                  <a:rPr lang="zh-CN" altLang="en-US" dirty="0"/>
                  <a:t>惯性矩阵</a:t>
                </a:r>
                <a:endParaRPr lang="en-US" altLang="zh-CN" dirty="0"/>
              </a:p>
              <a:p>
                <a:r>
                  <a:rPr lang="zh-CN" altLang="en-US" dirty="0"/>
                  <a:t>科里奥利力 </a:t>
                </a:r>
                <a:r>
                  <a:rPr lang="en-US" altLang="zh-CN" dirty="0"/>
                  <a:t>+ </a:t>
                </a:r>
                <a:r>
                  <a:rPr lang="zh-CN" altLang="en-US" dirty="0"/>
                  <a:t>离心力，就是「转起来产生的力」</a:t>
                </a:r>
                <a:endParaRPr lang="en-US" altLang="zh-CN" dirty="0"/>
              </a:p>
              <a:p>
                <a:r>
                  <a:rPr lang="zh-CN" altLang="en-US" dirty="0"/>
                  <a:t>重力项，地球引力对机械臂的拉力</a:t>
                </a:r>
                <a:r>
                  <a:rPr lang="en-US" altLang="zh-CN" dirty="0"/>
                  <a:t>	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3999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b="1" dirty="0"/>
                  <a:t>第一个问题：</a:t>
                </a:r>
                <a:r>
                  <a:rPr lang="zh-CN" altLang="en-US" dirty="0"/>
                  <a:t>怎么让机械臂精准、平稳地跟着预设轨迹运动； </a:t>
                </a:r>
                <a:endParaRPr lang="en-US" altLang="zh-CN" b="1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b="1" dirty="0"/>
                  <a:t>第一个问题：</a:t>
                </a:r>
                <a:r>
                  <a:rPr lang="zh-CN" altLang="en-US" dirty="0"/>
                  <a:t>怎么让机械臂精准、平稳地跟着预设轨迹运动； </a:t>
                </a:r>
                <a:endParaRPr lang="en-US" altLang="zh-CN" b="1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b="1" dirty="0"/>
                  <a:t>核心思想</a:t>
                </a:r>
                <a:r>
                  <a:rPr lang="en-US" altLang="zh-CN" dirty="0"/>
                  <a:t>: </a:t>
                </a:r>
                <a:r>
                  <a:rPr lang="zh-CN" altLang="en-US" dirty="0"/>
                  <a:t>通过</a:t>
                </a:r>
                <a:r>
                  <a:rPr lang="zh-CN" altLang="en-US" b="1" dirty="0"/>
                  <a:t>反馈线性化 </a:t>
                </a:r>
                <a:r>
                  <a:rPr lang="en-US" altLang="zh-CN" b="1" dirty="0"/>
                  <a:t>(Feedback Linearization)</a:t>
                </a:r>
                <a:r>
                  <a:rPr lang="zh-CN" altLang="en-US" dirty="0"/>
                  <a:t>，抵消机器人动力学中的非线性项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（如 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𝐶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和 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𝐺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</a:t>
                </a:r>
                <a:r>
                  <a:rPr lang="zh-CN" altLang="en-US" dirty="0"/>
                  <a:t>，使得闭环系统呈现简单的线性特性。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利用已知的动力学模型，计算出一个补偿项 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𝛼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</a:t>
                </a:r>
                <a:endParaRPr lang="en-US" altLang="zh-CN" sz="1200" b="1" i="1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dirty="0"/>
                  <a:t>每个关节的加速度，完全等于我们给的控制量</a:t>
                </a:r>
                <a:r>
                  <a:rPr lang="en-US" altLang="zh-CN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</a:t>
                </a:r>
                <a:endParaRPr lang="zh-CN" alt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03396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/>
              <a:t>第二个问题：</a:t>
            </a:r>
            <a:r>
              <a:rPr lang="zh-CN" altLang="en-US" dirty="0"/>
              <a:t>怎么让机械臂的实际角度，跟上预设的期望轨迹？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>
                <a:effectLst/>
              </a:rPr>
              <a:t>核心思想</a:t>
            </a:r>
            <a:r>
              <a:rPr lang="en-US" altLang="zh-CN" dirty="0">
                <a:effectLst/>
              </a:rPr>
              <a:t>: </a:t>
            </a:r>
            <a:r>
              <a:rPr lang="zh-CN" altLang="en-US" dirty="0">
                <a:effectLst/>
              </a:rPr>
              <a:t>设计新的控制输入 ，使得关节收敛到零。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15500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第三个问题：选择参数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只要选对</a:t>
            </a:r>
            <a:r>
              <a:rPr lang="en-US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Kv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  <a:r>
              <a:rPr lang="zh-CN" altLang="en-US" dirty="0"/>
              <a:t>和</a:t>
            </a:r>
            <a:r>
              <a:rPr lang="en-US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Kp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  <a:r>
              <a:rPr lang="zh-CN" altLang="en-US" dirty="0"/>
              <a:t>，就能让误差归零。根据期望的系统响应（如超调、响应速度）选择伺服控制器增益</a:t>
            </a:r>
            <a:r>
              <a:rPr lang="en-US" altLang="zh-CN" dirty="0"/>
              <a:t>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阻尼比和自然频率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42065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第四个问题：</a:t>
            </a:r>
            <a:r>
              <a:rPr lang="zh-CN" altLang="en-US" dirty="0"/>
              <a:t>怎么让机械臂和环境接触时，既能保持运动，又能精准控制接触</a:t>
            </a:r>
            <a:endParaRPr lang="en-US" altLang="zh-CN" dirty="0"/>
          </a:p>
          <a:p>
            <a:r>
              <a:rPr lang="zh-CN" altLang="en-US" dirty="0"/>
              <a:t>当机器人与环境交互时，在某些方向控制位置 </a:t>
            </a:r>
            <a:r>
              <a:rPr lang="en-US" altLang="zh-CN" dirty="0"/>
              <a:t>(Position)</a:t>
            </a:r>
            <a:r>
              <a:rPr lang="zh-CN" altLang="en-US" dirty="0"/>
              <a:t>，在与之正交的方向控制力 </a:t>
            </a:r>
            <a:r>
              <a:rPr lang="en-US" altLang="zh-CN" dirty="0"/>
              <a:t>(Force)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切向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位置控制方向</a:t>
            </a:r>
            <a:r>
              <a:rPr lang="zh-CN" altLang="en-US" dirty="0"/>
              <a:t>：沿着接触面的运动方向，让它沿着预设轨迹走； 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法向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力控制方向</a:t>
            </a:r>
            <a:r>
              <a:rPr lang="zh-CN" altLang="en-US" dirty="0"/>
              <a:t>：垂直接触面的方向，让它用固定的力压在接触面上。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9434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E06CD-86C9-9CB4-A562-22724E10A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0C2DB12-8DAC-39E6-F00E-392D1FB825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A6A3F83-47E5-E742-26AD-FF7D20C856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CDE119-84A2-4C66-CCAD-2EF0166CF3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13544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45680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05943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43455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64545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3295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910568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483356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定义轨迹误差</a:t>
            </a:r>
            <a:endParaRPr lang="en-US" altLang="zh-CN" dirty="0"/>
          </a:p>
          <a:p>
            <a:r>
              <a:rPr lang="zh-CN" altLang="en-US" dirty="0"/>
              <a:t>其中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q1d​</a:t>
            </a:r>
            <a:r>
              <a:rPr lang="zh-CN" altLang="en-US" dirty="0"/>
              <a:t>是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q1​</a:t>
            </a:r>
            <a:r>
              <a:rPr lang="zh-CN" altLang="en-US" dirty="0"/>
              <a:t>的期望轨迹，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q1​</a:t>
            </a:r>
            <a:r>
              <a:rPr lang="zh-CN" altLang="en-US" dirty="0"/>
              <a:t>是实际轨迹。对时间求二阶导，得到误差的加速度</a:t>
            </a:r>
            <a:endParaRPr lang="en-US" altLang="zh-CN" dirty="0"/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需要得到误差闭环动态方程，让误差收敛到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</a:p>
          <a:p>
            <a:r>
              <a:rPr lang="zh-CN" altLang="en-US" dirty="0"/>
              <a:t>对误差方程做拉普拉斯变换（零初始条件），得到闭环系统的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特征方程</a:t>
            </a:r>
            <a:r>
              <a:rPr lang="zh-CN" altLang="en-US" dirty="0"/>
              <a:t>：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5246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F9625-20F9-520E-A3AD-8154B63FB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DFE9F90-FAC4-622F-470A-BA94AB5A7A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2D5135B-EA8C-10C2-E6C9-261FEBF0E8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对应的特征方程为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s2+2ξωn​s+ωn2​=0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，其中：</a:t>
            </a:r>
          </a:p>
          <a:p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ξ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为阻尼比，决定系统的振荡特性</a:t>
            </a:r>
            <a:endParaRPr lang="en-US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ωn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为固有频率，决定系统的响应速度，值越大响应越快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C4D17D-4829-4797-E8DC-90C52D1B63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76557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FD7F2-16E3-A6FD-94B0-93730DC62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02AF1B1-5D1C-AE9E-3542-9C2D07548E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1B6011A-6C54-8E8B-B0D1-B2E5E3B26D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C9A9C4-499A-DAD6-144A-9F33A414EC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4759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7C8ED3-DCB7-0F40-A04F-4AA9FF1B14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251999D-4646-6B4F-9EDF-68EEABA3A7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F88856-48B5-C21D-02E2-F7C5602C9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EA1D4-F3E9-4B45-B5EC-FB23BCACAB00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A3C0A0-8DFC-6DF8-46E7-BF2B80263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637C27-1A24-A10A-5C9C-743708F96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1B35F-A116-4C15-A66B-BE3CFFA603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0453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CA68DE-8850-9313-6010-EAF803935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9E6DB9-5909-0E35-7AD4-E24E846CF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6659AD-C285-B49F-DEAE-B2E7EC9E5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EA1D4-F3E9-4B45-B5EC-FB23BCACAB00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F0AE76-049D-083F-EA03-19B7ECEE0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322496-3019-44E8-BB51-F51CE546A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1B35F-A116-4C15-A66B-BE3CFFA603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5777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D10355-DDC1-A85B-5EAC-BFA091C18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3B6A80-25CC-C3D5-5731-FE7BF8DC0F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E199DC-4D92-53CF-DC78-1449A2544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EA1D4-F3E9-4B45-B5EC-FB23BCACAB00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055901-B14E-6D56-A471-4FB0285DD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DE2BFF-B80B-36AF-EEDE-DF0247BF8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1B35F-A116-4C15-A66B-BE3CFFA603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5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2A6E74-D460-49CD-25E9-81B41DC08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07F5B9-E156-5B36-E5D5-FC32910781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175E600-1D7B-68E7-F6CC-381B48B006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F2BD45-ACEF-0F3B-268E-FAA0F5DDD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EA1D4-F3E9-4B45-B5EC-FB23BCACAB00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FD366CF-58CB-928A-6141-8E080F8F0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5A195CC-7AC3-FC07-3B72-EF1853DC0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1B35F-A116-4C15-A66B-BE3CFFA603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6168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80530E-CCD9-B95F-8C53-90642F591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84108A-D9A0-D152-1DEF-018D98EDEB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365782-EDB1-1A62-9EFC-E6BA02E316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85E7EDF-69C1-1FE9-A290-E2DC8FC0FB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6D47FEC-6CBE-29A8-41A3-918E76CD70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CC9032A-A1AE-A2A6-5F40-A3C293F09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EA1D4-F3E9-4B45-B5EC-FB23BCACAB00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4F04B4E-9F59-B463-E99D-646E4414C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C2E53E8-C902-5A07-9F7F-C4C09D6DA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1B35F-A116-4C15-A66B-BE3CFFA603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2831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F35CA4-7CE9-8782-AF02-ECAD802B3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C842587-BE35-E7E9-3E7F-D0E354779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EA1D4-F3E9-4B45-B5EC-FB23BCACAB00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6AA836A-0B82-A458-7C71-772DB58B5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EDC7F40-C592-7086-DC68-AC114C5CD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1B35F-A116-4C15-A66B-BE3CFFA603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5599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1D0D17D-C351-9272-7FB9-9F9D1B6C0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EA1D4-F3E9-4B45-B5EC-FB23BCACAB00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D103C0E-DDE0-5C06-2490-13C5D8EA9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827067-1E47-D0C6-ABDF-6732C3655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1B35F-A116-4C15-A66B-BE3CFFA603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3988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2C45B2-1FEE-29EA-3DAC-05B31A0DA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AE65D5-73B1-EA99-DDE3-19A5E882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F841BA9-8D50-5A7C-94F3-557D583548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9DBFC8B-C5D7-2179-7D11-4C020B924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EA1D4-F3E9-4B45-B5EC-FB23BCACAB00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B55F2DB-5A54-F79A-E45A-F4338C63C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F662B43-D753-87E7-C792-8ECA4C435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1B35F-A116-4C15-A66B-BE3CFFA603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3197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708465-E804-F49A-8A83-050F1E86F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8A989B4-F1A8-31F3-703B-4A2B18832F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46023C9-2FFA-6FBF-CDFB-7EAD39D8D6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E60E25F-04F5-9DE4-C9B5-3135E0E38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EA1D4-F3E9-4B45-B5EC-FB23BCACAB00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7E689F-366A-B323-FB4C-ABB9BEA9E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5A71A1-0D85-667D-855E-DCD458A39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1B35F-A116-4C15-A66B-BE3CFFA603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4385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B88A53-3E74-D048-8D94-715FE257A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12B3A32-26FD-661A-E627-C2A9DD698E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6C3947-23D1-32D1-7F04-22E6F6070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EA1D4-F3E9-4B45-B5EC-FB23BCACAB00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04E88F-8F26-B3E0-78B5-7DCC49ECA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B51721-9BBC-16B4-A3E3-1F15F97B7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1B35F-A116-4C15-A66B-BE3CFFA603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3323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DC9DA85-A48D-9686-8E5A-1D682B520F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4E090D-6EC1-0D63-30C1-9E98EDE399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EB7332-7971-166E-790A-741766251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EA1D4-F3E9-4B45-B5EC-FB23BCACAB00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1B93D2-3926-F3E4-2B6F-64AD36C4C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F7522B-D61B-A102-5293-77A3E72C4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1B35F-A116-4C15-A66B-BE3CFFA603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5777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7815A8B-D27E-67AD-7BFE-BA338B4F8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E646446-C4A9-0EEF-E4A1-525E76302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37E794-40A0-CBB8-7F3E-362DFAC72D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6EA1D4-F3E9-4B45-B5EC-FB23BCACAB00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C29B44-174E-F12D-8C83-1CF80EFE03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E4352E-B4FB-F2C7-14C5-0807D153DF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1B35F-A116-4C15-A66B-BE3CFFA603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8042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58.png"/><Relationship Id="rId4" Type="http://schemas.openxmlformats.org/officeDocument/2006/relationships/image" Target="../media/image5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5.png"/><Relationship Id="rId4" Type="http://schemas.openxmlformats.org/officeDocument/2006/relationships/image" Target="../media/image4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6.png"/><Relationship Id="rId5" Type="http://schemas.openxmlformats.org/officeDocument/2006/relationships/image" Target="../media/image40.png"/><Relationship Id="rId4" Type="http://schemas.openxmlformats.org/officeDocument/2006/relationships/image" Target="../media/image8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7.png"/><Relationship Id="rId4" Type="http://schemas.openxmlformats.org/officeDocument/2006/relationships/image" Target="../media/image4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4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7" Type="http://schemas.openxmlformats.org/officeDocument/2006/relationships/image" Target="../media/image9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4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3.png"/><Relationship Id="rId4" Type="http://schemas.openxmlformats.org/officeDocument/2006/relationships/image" Target="../media/image4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0C1A14-33DB-31C2-0813-1A5FCB9A14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en-US" altLang="zh-CN" dirty="0"/>
              <a:t>6221 tutor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811EB6C-97E7-B2D8-029F-8AA045E8DB9B}"/>
              </a:ext>
            </a:extLst>
          </p:cNvPr>
          <p:cNvSpPr txBox="1"/>
          <p:nvPr/>
        </p:nvSpPr>
        <p:spPr>
          <a:xfrm>
            <a:off x="9867781" y="374904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yyyy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427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7D0BBF-376D-F70D-C02C-97A9B9D29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 overview</a:t>
            </a:r>
            <a:endParaRPr lang="zh-CN" altLang="en-US" dirty="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413E6B62-75A6-08C7-4422-4E29E4564F89}"/>
              </a:ext>
            </a:extLst>
          </p:cNvPr>
          <p:cNvSpPr/>
          <p:nvPr/>
        </p:nvSpPr>
        <p:spPr>
          <a:xfrm>
            <a:off x="1447800" y="3183732"/>
            <a:ext cx="2555240" cy="11379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5 topics </a:t>
            </a:r>
            <a:endParaRPr lang="zh-CN" altLang="en-US" sz="28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43B3B76-7B38-C845-6B3D-FAAB35C1B117}"/>
              </a:ext>
            </a:extLst>
          </p:cNvPr>
          <p:cNvSpPr/>
          <p:nvPr/>
        </p:nvSpPr>
        <p:spPr>
          <a:xfrm>
            <a:off x="5618480" y="1573848"/>
            <a:ext cx="4754880" cy="57912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Kinematics</a:t>
            </a:r>
            <a:endParaRPr lang="zh-C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196D478-1D36-4E36-F347-B92D43321FD6}"/>
              </a:ext>
            </a:extLst>
          </p:cNvPr>
          <p:cNvSpPr/>
          <p:nvPr/>
        </p:nvSpPr>
        <p:spPr>
          <a:xfrm>
            <a:off x="5618480" y="5349084"/>
            <a:ext cx="4754880" cy="57912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Kalman Filter and Sensor Integration</a:t>
            </a:r>
            <a:endParaRPr lang="zh-C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241EF06-2336-336F-C990-97866F1F6BBB}"/>
              </a:ext>
            </a:extLst>
          </p:cNvPr>
          <p:cNvSpPr/>
          <p:nvPr/>
        </p:nvSpPr>
        <p:spPr>
          <a:xfrm>
            <a:off x="5618480" y="4406108"/>
            <a:ext cx="4754880" cy="57912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Structure and Pose Estimation</a:t>
            </a:r>
            <a:endParaRPr lang="zh-C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3F915FF-DBB6-AA30-3E55-1E9A3266EFB2}"/>
              </a:ext>
            </a:extLst>
          </p:cNvPr>
          <p:cNvSpPr/>
          <p:nvPr/>
        </p:nvSpPr>
        <p:spPr>
          <a:xfrm>
            <a:off x="5618480" y="3463132"/>
            <a:ext cx="4754880" cy="57912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Mobile Robots</a:t>
            </a:r>
            <a:endParaRPr lang="zh-C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151F217-423E-7A14-E005-18FE5770E6C3}"/>
              </a:ext>
            </a:extLst>
          </p:cNvPr>
          <p:cNvSpPr/>
          <p:nvPr/>
        </p:nvSpPr>
        <p:spPr>
          <a:xfrm>
            <a:off x="5618480" y="2520156"/>
            <a:ext cx="4754880" cy="57912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Dynamics and Control</a:t>
            </a:r>
            <a:endParaRPr lang="zh-C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61449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A2E728-EA5E-912F-A5E0-FA680634C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kinematics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8902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AFBE77-2F56-1B77-2039-04FCF58C1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Kinematics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F9A10B4-1B70-DBDA-C421-C17FF45179F8}"/>
              </a:ext>
            </a:extLst>
          </p:cNvPr>
          <p:cNvSpPr txBox="1"/>
          <p:nvPr/>
        </p:nvSpPr>
        <p:spPr>
          <a:xfrm>
            <a:off x="838200" y="1922562"/>
            <a:ext cx="4809677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Problem definition:</a:t>
            </a:r>
          </a:p>
          <a:p>
            <a:r>
              <a:rPr lang="en-US" altLang="zh-CN" sz="2800" dirty="0"/>
              <a:t>  </a:t>
            </a:r>
            <a:br>
              <a:rPr lang="en-US" altLang="zh-CN" sz="2000" dirty="0"/>
            </a:br>
            <a:r>
              <a:rPr lang="en-US" altLang="zh-CN" sz="2000" dirty="0">
                <a:solidFill>
                  <a:srgbClr val="FF0000"/>
                </a:solidFill>
              </a:rPr>
              <a:t>a) link diagram using D-H algorithm</a:t>
            </a:r>
          </a:p>
          <a:p>
            <a:r>
              <a:rPr lang="en-US" altLang="zh-CN" sz="2000" dirty="0">
                <a:solidFill>
                  <a:srgbClr val="FF0000"/>
                </a:solidFill>
              </a:rPr>
              <a:t>b) Kinematics parameters</a:t>
            </a:r>
          </a:p>
          <a:p>
            <a:r>
              <a:rPr lang="en-US" altLang="zh-CN" sz="2000" dirty="0"/>
              <a:t>or</a:t>
            </a:r>
            <a:br>
              <a:rPr lang="en-US" altLang="zh-CN" sz="2000" dirty="0"/>
            </a:br>
            <a:r>
              <a:rPr lang="en-US" altLang="zh-CN" sz="2000" dirty="0"/>
              <a:t>b) transformation matrix</a:t>
            </a:r>
            <a:endParaRPr lang="zh-CN" altLang="en-US" sz="2000" dirty="0"/>
          </a:p>
        </p:txBody>
      </p:sp>
      <p:pic>
        <p:nvPicPr>
          <p:cNvPr id="8" name="图片 7" descr="图示&#10;&#10;AI 生成的内容可能不正确。">
            <a:extLst>
              <a:ext uri="{FF2B5EF4-FFF2-40B4-BE49-F238E27FC236}">
                <a16:creationId xmlns:a16="http://schemas.microsoft.com/office/drawing/2014/main" id="{DE787DC1-F24A-A052-B9B2-D73CE6E71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203" y="110241"/>
            <a:ext cx="7281797" cy="496301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BF2DFF3-C9B4-5B6E-DEBB-0520F237C76F}"/>
              </a:ext>
            </a:extLst>
          </p:cNvPr>
          <p:cNvSpPr txBox="1"/>
          <p:nvPr/>
        </p:nvSpPr>
        <p:spPr>
          <a:xfrm>
            <a:off x="10808618" y="110242"/>
            <a:ext cx="1090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22-23 S2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11" name="图片 10" descr="文本&#10;&#10;AI 生成的内容可能不正确。">
            <a:extLst>
              <a:ext uri="{FF2B5EF4-FFF2-40B4-BE49-F238E27FC236}">
                <a16:creationId xmlns:a16="http://schemas.microsoft.com/office/drawing/2014/main" id="{C2FCF54F-8C31-ACEA-553E-0AFC5C3E89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582" y="4868506"/>
            <a:ext cx="6685280" cy="122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851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66C2B5-59A7-811F-D617-1CAD9F791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zh-CN" dirty="0"/>
              <a:t>Kinematics – principle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AB846CF-E26A-E049-AA2C-1F110E3A63C1}"/>
                  </a:ext>
                </a:extLst>
              </p:cNvPr>
              <p:cNvSpPr txBox="1"/>
              <p:nvPr/>
            </p:nvSpPr>
            <p:spPr>
              <a:xfrm>
                <a:off x="454660" y="1578928"/>
                <a:ext cx="1128268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four parameters describe the transformation from the coordinate system k-1 attached to link k-1 to the coordinate system k attached to link k. The 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origin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coordinate system k-1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the 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coordinate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axes are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); the origin of coordinate system k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the coordinate axes are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 err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err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 dirty="0" err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 dirty="0" err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err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 dirty="0" err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 dirty="0" err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err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i="1" dirty="0" err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AB846CF-E26A-E049-AA2C-1F110E3A63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660" y="1578928"/>
                <a:ext cx="11282680" cy="923330"/>
              </a:xfrm>
              <a:prstGeom prst="rect">
                <a:avLst/>
              </a:prstGeom>
              <a:blipFill>
                <a:blip r:embed="rId3"/>
                <a:stretch>
                  <a:fillRect l="-486" t="-3311" r="-865" b="-99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 descr="文本, 信件&#10;&#10;AI 生成的内容可能不正确。">
            <a:extLst>
              <a:ext uri="{FF2B5EF4-FFF2-40B4-BE49-F238E27FC236}">
                <a16:creationId xmlns:a16="http://schemas.microsoft.com/office/drawing/2014/main" id="{A9D00C29-C9A9-D902-B9A9-FF034D2E8E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75" y="2904491"/>
            <a:ext cx="6786880" cy="2755575"/>
          </a:xfrm>
          <a:prstGeom prst="rect">
            <a:avLst/>
          </a:prstGeom>
        </p:spPr>
      </p:pic>
      <p:pic>
        <p:nvPicPr>
          <p:cNvPr id="10" name="图片 9" descr="图示&#10;&#10;AI 生成的内容可能不正确。">
            <a:extLst>
              <a:ext uri="{FF2B5EF4-FFF2-40B4-BE49-F238E27FC236}">
                <a16:creationId xmlns:a16="http://schemas.microsoft.com/office/drawing/2014/main" id="{9F811F79-8F8B-48E7-407B-ABF9756C0B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1505" y="2904491"/>
            <a:ext cx="3503415" cy="2069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454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FAB20-EFEC-AE64-7230-9E8947CB9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EAAD9D-61C4-9E1E-AC21-C9018D326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zh-CN" dirty="0"/>
              <a:t>Kinematics – principle</a:t>
            </a:r>
            <a:endParaRPr lang="zh-CN" altLang="en-US" dirty="0"/>
          </a:p>
        </p:txBody>
      </p:sp>
      <p:pic>
        <p:nvPicPr>
          <p:cNvPr id="4" name="图片 3" descr="文本, 信件&#10;&#10;AI 生成的内容可能不正确。">
            <a:extLst>
              <a:ext uri="{FF2B5EF4-FFF2-40B4-BE49-F238E27FC236}">
                <a16:creationId xmlns:a16="http://schemas.microsoft.com/office/drawing/2014/main" id="{660E6CF8-2905-B929-0CD3-09A9D6CEE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" y="1619568"/>
            <a:ext cx="6976412" cy="13777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51FEFA7C-7C77-4510-0961-74ED776E6AD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08609038"/>
                  </p:ext>
                </p:extLst>
              </p:nvPr>
            </p:nvGraphicFramePr>
            <p:xfrm>
              <a:off x="419100" y="3429000"/>
              <a:ext cx="11353800" cy="2123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25780">
                      <a:extLst>
                        <a:ext uri="{9D8B030D-6E8A-4147-A177-3AD203B41FA5}">
                          <a16:colId xmlns:a16="http://schemas.microsoft.com/office/drawing/2014/main" val="2785748862"/>
                        </a:ext>
                      </a:extLst>
                    </a:gridCol>
                    <a:gridCol w="1788160">
                      <a:extLst>
                        <a:ext uri="{9D8B030D-6E8A-4147-A177-3AD203B41FA5}">
                          <a16:colId xmlns:a16="http://schemas.microsoft.com/office/drawing/2014/main" val="726178225"/>
                        </a:ext>
                      </a:extLst>
                    </a:gridCol>
                    <a:gridCol w="5283200">
                      <a:extLst>
                        <a:ext uri="{9D8B030D-6E8A-4147-A177-3AD203B41FA5}">
                          <a16:colId xmlns:a16="http://schemas.microsoft.com/office/drawing/2014/main" val="2867708863"/>
                        </a:ext>
                      </a:extLst>
                    </a:gridCol>
                    <a:gridCol w="1788160">
                      <a:extLst>
                        <a:ext uri="{9D8B030D-6E8A-4147-A177-3AD203B41FA5}">
                          <a16:colId xmlns:a16="http://schemas.microsoft.com/office/drawing/2014/main" val="2489181616"/>
                        </a:ext>
                      </a:extLst>
                    </a:gridCol>
                    <a:gridCol w="1968500">
                      <a:extLst>
                        <a:ext uri="{9D8B030D-6E8A-4147-A177-3AD203B41FA5}">
                          <a16:colId xmlns:a16="http://schemas.microsoft.com/office/drawing/2014/main" val="191989018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Name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Meaning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/>
                            <a:t>revolute joints</a:t>
                          </a:r>
                          <a:endParaRPr lang="zh-CN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prismatic joints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846136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Joint Angle</a:t>
                          </a:r>
                          <a:endParaRPr lang="zh-CN" altLang="en-US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The amount of rotation about the joint axis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/>
                            <a:t>Variable</a:t>
                          </a:r>
                          <a:endParaRPr lang="zh-CN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Fix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55367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zh-CN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/>
                            <a:t>Joint distance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The amount of offset along the previous joint axis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Fixed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/>
                            <a:t>Variable</a:t>
                          </a:r>
                          <a:endParaRPr lang="zh-CN" altLang="en-US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608036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Link Length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The shortest distance (common perpendicular length) between joint axes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i="1" dirty="0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zh-CN" dirty="0"/>
                            <a:t>and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i="1" dirty="0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Fixed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Fixed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37412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Link Twist Angle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The degree of rotation between adjacent joint axes 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Fixed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Fixed 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381881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51FEFA7C-7C77-4510-0961-74ED776E6AD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08609038"/>
                  </p:ext>
                </p:extLst>
              </p:nvPr>
            </p:nvGraphicFramePr>
            <p:xfrm>
              <a:off x="419100" y="3429000"/>
              <a:ext cx="11353800" cy="2123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25780">
                      <a:extLst>
                        <a:ext uri="{9D8B030D-6E8A-4147-A177-3AD203B41FA5}">
                          <a16:colId xmlns:a16="http://schemas.microsoft.com/office/drawing/2014/main" val="2785748862"/>
                        </a:ext>
                      </a:extLst>
                    </a:gridCol>
                    <a:gridCol w="1788160">
                      <a:extLst>
                        <a:ext uri="{9D8B030D-6E8A-4147-A177-3AD203B41FA5}">
                          <a16:colId xmlns:a16="http://schemas.microsoft.com/office/drawing/2014/main" val="726178225"/>
                        </a:ext>
                      </a:extLst>
                    </a:gridCol>
                    <a:gridCol w="5283200">
                      <a:extLst>
                        <a:ext uri="{9D8B030D-6E8A-4147-A177-3AD203B41FA5}">
                          <a16:colId xmlns:a16="http://schemas.microsoft.com/office/drawing/2014/main" val="2867708863"/>
                        </a:ext>
                      </a:extLst>
                    </a:gridCol>
                    <a:gridCol w="1788160">
                      <a:extLst>
                        <a:ext uri="{9D8B030D-6E8A-4147-A177-3AD203B41FA5}">
                          <a16:colId xmlns:a16="http://schemas.microsoft.com/office/drawing/2014/main" val="2489181616"/>
                        </a:ext>
                      </a:extLst>
                    </a:gridCol>
                    <a:gridCol w="1968500">
                      <a:extLst>
                        <a:ext uri="{9D8B030D-6E8A-4147-A177-3AD203B41FA5}">
                          <a16:colId xmlns:a16="http://schemas.microsoft.com/office/drawing/2014/main" val="191989018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Name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Meaning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/>
                            <a:t>revolute joints</a:t>
                          </a:r>
                          <a:endParaRPr lang="zh-CN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prismatic joints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846136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163" t="-108197" r="-2072093" b="-3967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Joint Angle</a:t>
                          </a:r>
                          <a:endParaRPr lang="zh-CN" altLang="en-US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The amount of rotation about the joint axis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/>
                            <a:t>Variable</a:t>
                          </a:r>
                          <a:endParaRPr lang="zh-CN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Fix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55367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163" t="-208197" r="-2072093" b="-2967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/>
                            <a:t>Joint distance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The amount of offset along the previous joint axis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Fixed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/>
                            <a:t>Variable</a:t>
                          </a:r>
                          <a:endParaRPr lang="zh-CN" altLang="en-US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6080366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163" t="-179048" r="-2072093" b="-723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Link Length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43945" t="-179048" r="-71626" b="-723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Fixed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Fixed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37412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163" t="-480328" r="-2072093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Link Twist Angle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The degree of rotation between adjacent joint axes 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Fixed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Fixed 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3818816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16123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26A6A-CAA0-54BF-B1FE-D6498F7EB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图示&#10;&#10;AI 生成的内容可能不正确。">
            <a:extLst>
              <a:ext uri="{FF2B5EF4-FFF2-40B4-BE49-F238E27FC236}">
                <a16:creationId xmlns:a16="http://schemas.microsoft.com/office/drawing/2014/main" id="{93ECD702-57C8-3F24-051D-258A26411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922" y="3716328"/>
            <a:ext cx="5824078" cy="3027680"/>
          </a:xfrm>
          <a:prstGeom prst="rect">
            <a:avLst/>
          </a:prstGeom>
        </p:spPr>
      </p:pic>
      <p:pic>
        <p:nvPicPr>
          <p:cNvPr id="13" name="图片 12" descr="图示, 示意图&#10;&#10;AI 生成的内容可能不正确。">
            <a:extLst>
              <a:ext uri="{FF2B5EF4-FFF2-40B4-BE49-F238E27FC236}">
                <a16:creationId xmlns:a16="http://schemas.microsoft.com/office/drawing/2014/main" id="{4E2C3119-9A42-773F-F3A0-7AFB39BDE3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429" t="10768" r="5149"/>
          <a:stretch>
            <a:fillRect/>
          </a:stretch>
        </p:blipFill>
        <p:spPr>
          <a:xfrm>
            <a:off x="5262880" y="1198880"/>
            <a:ext cx="6929120" cy="2517448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27DE192-22E0-9FB0-02EE-2E0A2B12D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zh-CN" dirty="0"/>
              <a:t>Kinematics – principle</a:t>
            </a:r>
            <a:endParaRPr lang="zh-CN" altLang="en-US" dirty="0"/>
          </a:p>
        </p:txBody>
      </p:sp>
      <p:pic>
        <p:nvPicPr>
          <p:cNvPr id="4" name="图片 3" descr="文本&#10;&#10;AI 生成的内容可能不正确。">
            <a:extLst>
              <a:ext uri="{FF2B5EF4-FFF2-40B4-BE49-F238E27FC236}">
                <a16:creationId xmlns:a16="http://schemas.microsoft.com/office/drawing/2014/main" id="{CDE25425-E54F-2152-60D0-A3BFA8699E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690688"/>
            <a:ext cx="7543098" cy="2025640"/>
          </a:xfrm>
          <a:prstGeom prst="rect">
            <a:avLst/>
          </a:prstGeom>
        </p:spPr>
      </p:pic>
      <p:pic>
        <p:nvPicPr>
          <p:cNvPr id="11" name="图片 10" descr="文本&#10;&#10;AI 生成的内容可能不正确。">
            <a:extLst>
              <a:ext uri="{FF2B5EF4-FFF2-40B4-BE49-F238E27FC236}">
                <a16:creationId xmlns:a16="http://schemas.microsoft.com/office/drawing/2014/main" id="{F8D28B46-E3C4-7F38-6EA6-C980AA1E35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9115" y="3716328"/>
            <a:ext cx="6340445" cy="2045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82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BEB49-A6F3-BFA1-7991-859FFCDDF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68EA96-46E9-C3D0-D4DB-386BB9CDA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zh-CN" dirty="0"/>
              <a:t>Kinematics – principle</a:t>
            </a:r>
            <a:endParaRPr lang="zh-CN" altLang="en-US" dirty="0"/>
          </a:p>
        </p:txBody>
      </p:sp>
      <p:pic>
        <p:nvPicPr>
          <p:cNvPr id="5" name="图片 4" descr="图示, 示意图&#10;&#10;AI 生成的内容可能不正确。">
            <a:extLst>
              <a:ext uri="{FF2B5EF4-FFF2-40B4-BE49-F238E27FC236}">
                <a16:creationId xmlns:a16="http://schemas.microsoft.com/office/drawing/2014/main" id="{BF084D71-281F-44D7-941B-4040FDAF2B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13" r="3488"/>
          <a:stretch>
            <a:fillRect/>
          </a:stretch>
        </p:blipFill>
        <p:spPr>
          <a:xfrm>
            <a:off x="121920" y="2090798"/>
            <a:ext cx="6583680" cy="394672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929E3CF-99F4-8098-D112-9A40A8E34740}"/>
              </a:ext>
            </a:extLst>
          </p:cNvPr>
          <p:cNvSpPr txBox="1"/>
          <p:nvPr/>
        </p:nvSpPr>
        <p:spPr>
          <a:xfrm flipH="1">
            <a:off x="838200" y="1690688"/>
            <a:ext cx="36677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accent1"/>
                </a:solidFill>
              </a:rPr>
              <a:t>Tool tips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CFB3209-DE25-027C-23C9-1C038A08B84B}"/>
                  </a:ext>
                </a:extLst>
              </p:cNvPr>
              <p:cNvSpPr txBox="1"/>
              <p:nvPr/>
            </p:nvSpPr>
            <p:spPr>
              <a:xfrm>
                <a:off x="6786880" y="4251008"/>
                <a:ext cx="5283200" cy="16514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000" dirty="0"/>
                  <a:t>The </a:t>
                </a:r>
                <a:r>
                  <a:rPr lang="zh-CN" altLang="en-US" sz="2000" b="1" dirty="0"/>
                  <a:t>transformation</a:t>
                </a:r>
                <a:r>
                  <a:rPr lang="zh-CN" altLang="en-US" sz="2000" dirty="0"/>
                  <a:t> from coordinate system k to coordinate system k-1, denoted as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00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00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zh-CN" altLang="en-US" sz="20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zh-CN" altLang="en-US" sz="20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sz="20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0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zh-CN" altLang="en-US" sz="200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2000" dirty="0"/>
                  <a:t>is obtained by combining four basic transformations associated with the D-H parameters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CN" altLang="en-US" sz="2000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zh-CN" altLang="en-US" sz="20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 dirty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zh-CN" altLang="en-US" sz="2000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zh-CN" altLang="en-US" sz="20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zh-CN" altLang="en-US" sz="2000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zh-CN" altLang="en-US" sz="20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 dirty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zh-CN" altLang="en-US" sz="20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2000" dirty="0"/>
                  <a:t>).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CFB3209-DE25-027C-23C9-1C038A08B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6880" y="4251008"/>
                <a:ext cx="5283200" cy="1651478"/>
              </a:xfrm>
              <a:prstGeom prst="rect">
                <a:avLst/>
              </a:prstGeom>
              <a:blipFill>
                <a:blip r:embed="rId4"/>
                <a:stretch>
                  <a:fillRect l="-1153" t="-1845" r="-1499" b="-55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 descr="文本&#10;&#10;AI 生成的内容可能不正确。">
            <a:extLst>
              <a:ext uri="{FF2B5EF4-FFF2-40B4-BE49-F238E27FC236}">
                <a16:creationId xmlns:a16="http://schemas.microsoft.com/office/drawing/2014/main" id="{53492E1D-D0D6-13F7-8331-7A614EC18F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5561" y="1341120"/>
            <a:ext cx="6006439" cy="268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494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图示, 示意图&#10;&#10;AI 生成的内容可能不正确。">
            <a:extLst>
              <a:ext uri="{FF2B5EF4-FFF2-40B4-BE49-F238E27FC236}">
                <a16:creationId xmlns:a16="http://schemas.microsoft.com/office/drawing/2014/main" id="{DD7A7F8E-E40C-9C18-0CF2-1673D6701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88" y="1428496"/>
            <a:ext cx="7696616" cy="5195823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F5AD2903-05C9-55C7-44A2-190B37398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Kinematics – practise1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0992B74-75C9-391B-1B1A-D04D1B2621D3}"/>
              </a:ext>
            </a:extLst>
          </p:cNvPr>
          <p:cNvSpPr txBox="1"/>
          <p:nvPr/>
        </p:nvSpPr>
        <p:spPr>
          <a:xfrm>
            <a:off x="386080" y="1836420"/>
            <a:ext cx="18710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00B0F0"/>
                </a:solidFill>
              </a:rPr>
              <a:t>23-24 S2 Q1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pic>
        <p:nvPicPr>
          <p:cNvPr id="11" name="图片 10" descr="文本, 信件&#10;&#10;AI 生成的内容可能不正确。">
            <a:extLst>
              <a:ext uri="{FF2B5EF4-FFF2-40B4-BE49-F238E27FC236}">
                <a16:creationId xmlns:a16="http://schemas.microsoft.com/office/drawing/2014/main" id="{CE8F3C55-7727-7105-ECC9-866478B19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41903"/>
            <a:ext cx="6020655" cy="1189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12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D74298-0CBE-5CDC-15CB-9FF44044C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Kinematics – practise1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0887E9D-60CC-C7F3-B41A-E8E7898BE2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35"/>
          <a:stretch>
            <a:fillRect/>
          </a:stretch>
        </p:blipFill>
        <p:spPr>
          <a:xfrm>
            <a:off x="736600" y="1568768"/>
            <a:ext cx="8599569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206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52FA44-0678-97F5-A63A-A05AF8C8B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Kinematics – practise2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940E2F1-08BC-1692-C348-B37535ECC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623" y="1366554"/>
            <a:ext cx="7634335" cy="4729446"/>
          </a:xfrm>
          <a:prstGeom prst="rect">
            <a:avLst/>
          </a:prstGeom>
        </p:spPr>
      </p:pic>
      <p:pic>
        <p:nvPicPr>
          <p:cNvPr id="6" name="图片 5" descr="文本, 信件&#10;&#10;AI 生成的内容可能不正确。">
            <a:extLst>
              <a:ext uri="{FF2B5EF4-FFF2-40B4-BE49-F238E27FC236}">
                <a16:creationId xmlns:a16="http://schemas.microsoft.com/office/drawing/2014/main" id="{6F845B68-E920-0A9B-C120-EA6FE5EF4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1345" y="0"/>
            <a:ext cx="6020655" cy="118903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94E6655-FB24-9ECD-1506-04794226ECC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3531"/>
          <a:stretch>
            <a:fillRect/>
          </a:stretch>
        </p:blipFill>
        <p:spPr>
          <a:xfrm>
            <a:off x="915956" y="6096000"/>
            <a:ext cx="7425404" cy="71435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C169176-7671-8AE6-6086-9F05D7F11C38}"/>
              </a:ext>
            </a:extLst>
          </p:cNvPr>
          <p:cNvSpPr txBox="1"/>
          <p:nvPr/>
        </p:nvSpPr>
        <p:spPr>
          <a:xfrm>
            <a:off x="386080" y="1836420"/>
            <a:ext cx="18710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00B0F0"/>
                </a:solidFill>
              </a:rPr>
              <a:t>22-23 S2 Q1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0816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1E0DC-979C-594A-FF9A-ED3303DFF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0B6AC1-3070-863D-0A33-A699C7919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Kinematics – practise2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76FBA6D-4472-ABD3-AA03-30E0C83F04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00175"/>
            <a:ext cx="8639503" cy="527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347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2D6BC2-20FC-87F4-7D15-132F1B794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Kinematics – practise3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79F7112-782F-3BB8-320A-12D8D3E6A5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449704"/>
            <a:ext cx="8524240" cy="5094663"/>
          </a:xfrm>
          <a:prstGeom prst="rect">
            <a:avLst/>
          </a:prstGeom>
        </p:spPr>
      </p:pic>
      <p:pic>
        <p:nvPicPr>
          <p:cNvPr id="6" name="图片 5" descr="文本, 信件&#10;&#10;AI 生成的内容可能不正确。">
            <a:extLst>
              <a:ext uri="{FF2B5EF4-FFF2-40B4-BE49-F238E27FC236}">
                <a16:creationId xmlns:a16="http://schemas.microsoft.com/office/drawing/2014/main" id="{1669FDA7-FB8E-DC66-4863-0374D2E750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1345" y="0"/>
            <a:ext cx="6020655" cy="118903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173F181-6859-BF54-B97D-AD2BF2CE1B67}"/>
              </a:ext>
            </a:extLst>
          </p:cNvPr>
          <p:cNvSpPr txBox="1"/>
          <p:nvPr/>
        </p:nvSpPr>
        <p:spPr>
          <a:xfrm>
            <a:off x="416560" y="1720526"/>
            <a:ext cx="18710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00B0F0"/>
                </a:solidFill>
              </a:rPr>
              <a:t>24-25 S2 Q1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854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8D9A9E-4D7A-2FB0-6909-BBF73BEFB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Kinematics – practise3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8014B12-DF5F-AED5-0C9F-30C5709A25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447"/>
          <a:stretch>
            <a:fillRect/>
          </a:stretch>
        </p:blipFill>
        <p:spPr>
          <a:xfrm>
            <a:off x="381000" y="1690688"/>
            <a:ext cx="7472680" cy="316656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B846F36-03F6-DB9C-45C8-6800F65026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206" t="45334" b="7555"/>
          <a:stretch>
            <a:fillRect/>
          </a:stretch>
        </p:blipFill>
        <p:spPr>
          <a:xfrm>
            <a:off x="7816857" y="1690688"/>
            <a:ext cx="2559339" cy="3166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5213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CFCE0-D76F-39FD-47BA-BE41D5C8D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D5654B-F809-05AF-7C41-0349524AA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Kinematics – practise3</a:t>
            </a:r>
            <a:endParaRPr lang="zh-CN" altLang="en-US" dirty="0"/>
          </a:p>
        </p:txBody>
      </p:sp>
      <p:pic>
        <p:nvPicPr>
          <p:cNvPr id="11" name="内容占位符 10">
            <a:extLst>
              <a:ext uri="{FF2B5EF4-FFF2-40B4-BE49-F238E27FC236}">
                <a16:creationId xmlns:a16="http://schemas.microsoft.com/office/drawing/2014/main" id="{F2C1FEFB-038B-F822-DBC0-BF39121CCB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429086" y="2055813"/>
            <a:ext cx="10047619" cy="425714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888808B-BCFD-3C7C-D1FC-2B7FAB3135E8}"/>
              </a:ext>
            </a:extLst>
          </p:cNvPr>
          <p:cNvSpPr txBox="1"/>
          <p:nvPr/>
        </p:nvSpPr>
        <p:spPr>
          <a:xfrm>
            <a:off x="416560" y="1594148"/>
            <a:ext cx="18710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00B0F0"/>
                </a:solidFill>
              </a:rPr>
              <a:t>24-25 S2 Q1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99101F0-BA60-9A48-A5E2-65D2F48C67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206" t="45334" b="7555"/>
          <a:stretch>
            <a:fillRect/>
          </a:stretch>
        </p:blipFill>
        <p:spPr>
          <a:xfrm>
            <a:off x="9482819" y="2431593"/>
            <a:ext cx="2559339" cy="3166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4741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4853F-9D89-61B6-CE2F-F74307E11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406730-47B9-5E8B-E0E2-D872F9A65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Kinematics – practise3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3D4082E-DADB-C907-46A7-25FFB79F05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" t="47791" r="2498" b="1066"/>
          <a:stretch>
            <a:fillRect/>
          </a:stretch>
        </p:blipFill>
        <p:spPr>
          <a:xfrm>
            <a:off x="838200" y="3083159"/>
            <a:ext cx="6036805" cy="340971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2A709D4-64D5-35F6-01EA-890253395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846" y="1452245"/>
            <a:ext cx="7371428" cy="1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5101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2AF4D1-A8EE-E6D0-FDE8-F50888AE9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Inverse Kinematics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F27FD0E-AA27-5174-4932-E77AE3DCCC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7741"/>
          <a:stretch>
            <a:fillRect/>
          </a:stretch>
        </p:blipFill>
        <p:spPr>
          <a:xfrm>
            <a:off x="5362712" y="-1"/>
            <a:ext cx="6829288" cy="368953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489AE3E-A9B1-E937-898F-88B272E1874C}"/>
              </a:ext>
            </a:extLst>
          </p:cNvPr>
          <p:cNvSpPr txBox="1"/>
          <p:nvPr/>
        </p:nvSpPr>
        <p:spPr>
          <a:xfrm>
            <a:off x="838200" y="1504325"/>
            <a:ext cx="4809677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Problem definition:</a:t>
            </a:r>
          </a:p>
          <a:p>
            <a:r>
              <a:rPr lang="en-US" altLang="zh-CN" sz="2800" dirty="0"/>
              <a:t>  </a:t>
            </a:r>
            <a:br>
              <a:rPr lang="en-US" altLang="zh-CN" sz="2000" dirty="0"/>
            </a:br>
            <a:r>
              <a:rPr lang="en-US" altLang="zh-CN" sz="2000" dirty="0">
                <a:solidFill>
                  <a:srgbClr val="FF0000"/>
                </a:solidFill>
              </a:rPr>
              <a:t>a) tool configuration Jacobian matrix.</a:t>
            </a:r>
          </a:p>
          <a:p>
            <a:r>
              <a:rPr lang="en-US" altLang="zh-CN" sz="2000" dirty="0">
                <a:solidFill>
                  <a:srgbClr val="FF0000"/>
                </a:solidFill>
              </a:rPr>
              <a:t>b) Solve kinematic problem</a:t>
            </a:r>
          </a:p>
          <a:p>
            <a:r>
              <a:rPr lang="en-US" altLang="zh-CN" sz="2000" dirty="0"/>
              <a:t>sometimes</a:t>
            </a:r>
            <a:br>
              <a:rPr lang="en-US" altLang="zh-CN" sz="2000" dirty="0"/>
            </a:br>
            <a:r>
              <a:rPr lang="en-US" altLang="zh-CN" sz="2000" dirty="0"/>
              <a:t>c) Determine the approach vector</a:t>
            </a:r>
            <a:endParaRPr lang="zh-CN" altLang="en-US" sz="20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A605EFF-C0F3-4E3D-2E79-C7C7959870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424" y="3904255"/>
            <a:ext cx="6208067" cy="2898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5581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9E32D-F76E-F26D-B788-0043FF65F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85097EB2-C142-9690-808E-DE76C1343E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3461" y="1218352"/>
            <a:ext cx="7314286" cy="128571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2659D10C-7369-3EAA-1EEC-6517F3C84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Inverse Kinematics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D6C6664-ECA3-8106-5D1B-ADD121B8AD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19" y="1590223"/>
            <a:ext cx="4219861" cy="2763712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1472C9FF-29A4-5E8E-3E00-BF9AE848AA47}"/>
              </a:ext>
            </a:extLst>
          </p:cNvPr>
          <p:cNvSpPr/>
          <p:nvPr/>
        </p:nvSpPr>
        <p:spPr>
          <a:xfrm>
            <a:off x="9139760" y="1146900"/>
            <a:ext cx="1707780" cy="9825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11758155-26A1-16A5-7EFD-9D5DB5F05488}"/>
              </a:ext>
            </a:extLst>
          </p:cNvPr>
          <p:cNvCxnSpPr>
            <a:cxnSpLocks/>
            <a:stCxn id="10" idx="0"/>
          </p:cNvCxnSpPr>
          <p:nvPr/>
        </p:nvCxnSpPr>
        <p:spPr>
          <a:xfrm rot="16200000" flipH="1" flipV="1">
            <a:off x="5773216" y="-1344498"/>
            <a:ext cx="1729037" cy="6711831"/>
          </a:xfrm>
          <a:prstGeom prst="bentConnector4">
            <a:avLst>
              <a:gd name="adj1" fmla="val -13221"/>
              <a:gd name="adj2" fmla="val 56361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48A29234-4357-C790-E44D-0B9644153B34}"/>
              </a:ext>
            </a:extLst>
          </p:cNvPr>
          <p:cNvSpPr/>
          <p:nvPr/>
        </p:nvSpPr>
        <p:spPr>
          <a:xfrm>
            <a:off x="8392438" y="1162751"/>
            <a:ext cx="747322" cy="966674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FBB835C1-31E6-83FC-780B-B6EBF3D066DC}"/>
              </a:ext>
            </a:extLst>
          </p:cNvPr>
          <p:cNvCxnSpPr>
            <a:cxnSpLocks/>
            <a:stCxn id="27" idx="2"/>
          </p:cNvCxnSpPr>
          <p:nvPr/>
        </p:nvCxnSpPr>
        <p:spPr>
          <a:xfrm rot="5400000">
            <a:off x="5792231" y="257845"/>
            <a:ext cx="1102289" cy="4845449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>
            <a:extLst>
              <a:ext uri="{FF2B5EF4-FFF2-40B4-BE49-F238E27FC236}">
                <a16:creationId xmlns:a16="http://schemas.microsoft.com/office/drawing/2014/main" id="{42CCCB37-2369-EE0F-B130-F2603116BC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5344" y="3982065"/>
            <a:ext cx="4740839" cy="2354927"/>
          </a:xfrm>
          <a:prstGeom prst="rect">
            <a:avLst/>
          </a:prstGeom>
        </p:spPr>
      </p:pic>
      <p:sp>
        <p:nvSpPr>
          <p:cNvPr id="34" name="矩形 33">
            <a:extLst>
              <a:ext uri="{FF2B5EF4-FFF2-40B4-BE49-F238E27FC236}">
                <a16:creationId xmlns:a16="http://schemas.microsoft.com/office/drawing/2014/main" id="{E9770862-2BC1-4B2C-299B-1E0F1D244098}"/>
              </a:ext>
            </a:extLst>
          </p:cNvPr>
          <p:cNvSpPr/>
          <p:nvPr/>
        </p:nvSpPr>
        <p:spPr>
          <a:xfrm>
            <a:off x="8778885" y="4070959"/>
            <a:ext cx="2029216" cy="9895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1D63FB9-C7F0-5A1B-FB43-10C3829062FA}"/>
              </a:ext>
            </a:extLst>
          </p:cNvPr>
          <p:cNvSpPr/>
          <p:nvPr/>
        </p:nvSpPr>
        <p:spPr>
          <a:xfrm>
            <a:off x="9889526" y="5060515"/>
            <a:ext cx="918575" cy="11273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5200855-6C40-C1A7-327A-26C025BF2EC4}"/>
              </a:ext>
            </a:extLst>
          </p:cNvPr>
          <p:cNvSpPr/>
          <p:nvPr/>
        </p:nvSpPr>
        <p:spPr>
          <a:xfrm>
            <a:off x="8778885" y="5060515"/>
            <a:ext cx="1110641" cy="11273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EE48588A-492B-5071-07F6-05F28DC83FF6}"/>
              </a:ext>
            </a:extLst>
          </p:cNvPr>
          <p:cNvSpPr txBox="1"/>
          <p:nvPr/>
        </p:nvSpPr>
        <p:spPr>
          <a:xfrm>
            <a:off x="449274" y="1453496"/>
            <a:ext cx="33193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tool configuration matrix</a:t>
            </a:r>
            <a:endParaRPr lang="zh-CN" altLang="en-US" sz="2000" dirty="0"/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E17FE825-57C4-460A-7323-D37299EF03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387" y="4337843"/>
            <a:ext cx="6565966" cy="1729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3267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65AE60-F435-60D1-191A-1892516E8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Inverse Kinematics</a:t>
            </a:r>
            <a:endParaRPr lang="zh-CN" altLang="en-US" dirty="0"/>
          </a:p>
        </p:txBody>
      </p: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7489BE31-00C2-BB2A-4080-E1AB022E31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27" b="59799"/>
          <a:stretch>
            <a:fillRect/>
          </a:stretch>
        </p:blipFill>
        <p:spPr>
          <a:xfrm>
            <a:off x="111690" y="1690688"/>
            <a:ext cx="10147126" cy="212975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03B99B0-DE34-DD75-E812-AAFB59D04BB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26" b="76783"/>
          <a:stretch>
            <a:fillRect/>
          </a:stretch>
        </p:blipFill>
        <p:spPr>
          <a:xfrm>
            <a:off x="287575" y="4623882"/>
            <a:ext cx="10147126" cy="150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404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D1948-92FF-C578-4451-349F38E63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181898-F694-2EFC-C488-097815B0C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Inverse Kinematics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1D48B48-5DEA-F211-F6DB-E5EB2E136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5642" y="1576963"/>
            <a:ext cx="7428571" cy="4600000"/>
          </a:xfrm>
          <a:prstGeom prst="rect">
            <a:avLst/>
          </a:prstGeom>
        </p:spPr>
      </p:pic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CBDA1AFD-6464-F2BE-B8AB-7F13C8A200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 l="16484" r="15296"/>
          <a:stretch>
            <a:fillRect/>
          </a:stretch>
        </p:blipFill>
        <p:spPr>
          <a:xfrm>
            <a:off x="548255" y="1576963"/>
            <a:ext cx="4215174" cy="306920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8CF88A5-31F2-308A-388C-029122012D9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8485" t="12976" r="30132" b="74291"/>
          <a:stretch>
            <a:fillRect/>
          </a:stretch>
        </p:blipFill>
        <p:spPr>
          <a:xfrm>
            <a:off x="264763" y="4851400"/>
            <a:ext cx="3436642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8454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内容占位符 4">
            <a:extLst>
              <a:ext uri="{FF2B5EF4-FFF2-40B4-BE49-F238E27FC236}">
                <a16:creationId xmlns:a16="http://schemas.microsoft.com/office/drawing/2014/main" id="{1647E065-5E4B-8EE1-F979-2F4A2AAA95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41"/>
          <a:stretch>
            <a:fillRect/>
          </a:stretch>
        </p:blipFill>
        <p:spPr>
          <a:xfrm>
            <a:off x="0" y="1391638"/>
            <a:ext cx="6582374" cy="355614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C645664-5E8C-4A10-5031-10DBCA2C3C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344" y="977030"/>
            <a:ext cx="5854656" cy="510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3292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B395A2-4A7D-9A06-3048-82522DBF7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Inverse Kinematics</a:t>
            </a:r>
            <a:endParaRPr lang="zh-CN" altLang="en-US" dirty="0"/>
          </a:p>
        </p:txBody>
      </p:sp>
      <p:pic>
        <p:nvPicPr>
          <p:cNvPr id="10" name="内容占位符 4">
            <a:extLst>
              <a:ext uri="{FF2B5EF4-FFF2-40B4-BE49-F238E27FC236}">
                <a16:creationId xmlns:a16="http://schemas.microsoft.com/office/drawing/2014/main" id="{CF191D73-79D3-B13E-694B-5C1E748257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7740" r="4546"/>
          <a:stretch>
            <a:fillRect/>
          </a:stretch>
        </p:blipFill>
        <p:spPr>
          <a:xfrm>
            <a:off x="5358052" y="20862"/>
            <a:ext cx="6833948" cy="388339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C3E0671-9472-156B-20E9-7D2A32E6E4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705"/>
          <a:stretch>
            <a:fillRect/>
          </a:stretch>
        </p:blipFill>
        <p:spPr>
          <a:xfrm>
            <a:off x="222714" y="4054568"/>
            <a:ext cx="11746571" cy="2045607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2A96AE0B-4D27-C63B-2C0F-EA1D2FD76A0C}"/>
              </a:ext>
            </a:extLst>
          </p:cNvPr>
          <p:cNvSpPr/>
          <p:nvPr/>
        </p:nvSpPr>
        <p:spPr>
          <a:xfrm>
            <a:off x="6889315" y="2743200"/>
            <a:ext cx="1991638" cy="2254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7C426D5-C928-BBA5-4CC1-86B9A9CBC825}"/>
              </a:ext>
            </a:extLst>
          </p:cNvPr>
          <p:cNvSpPr/>
          <p:nvPr/>
        </p:nvSpPr>
        <p:spPr>
          <a:xfrm>
            <a:off x="1002082" y="4772416"/>
            <a:ext cx="275573" cy="3632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2F87C53-4103-A809-C1D8-979F019BB640}"/>
              </a:ext>
            </a:extLst>
          </p:cNvPr>
          <p:cNvSpPr/>
          <p:nvPr/>
        </p:nvSpPr>
        <p:spPr>
          <a:xfrm>
            <a:off x="3006247" y="4772416"/>
            <a:ext cx="1615857" cy="25052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47457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7AC3FE-EBFD-1F25-21D4-63DE6C9DE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Inverse Kinematics</a:t>
            </a: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C944FA84-2AD3-A72E-38E8-7284355141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7781" y="4029517"/>
            <a:ext cx="10836438" cy="2495665"/>
          </a:xfrm>
          <a:prstGeom prst="rect">
            <a:avLst/>
          </a:prstGeom>
        </p:spPr>
      </p:pic>
      <p:pic>
        <p:nvPicPr>
          <p:cNvPr id="7" name="内容占位符 4">
            <a:extLst>
              <a:ext uri="{FF2B5EF4-FFF2-40B4-BE49-F238E27FC236}">
                <a16:creationId xmlns:a16="http://schemas.microsoft.com/office/drawing/2014/main" id="{ED352020-16DF-38D0-F14C-35ECCF1B46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740" r="4546"/>
          <a:stretch>
            <a:fillRect/>
          </a:stretch>
        </p:blipFill>
        <p:spPr>
          <a:xfrm>
            <a:off x="5358052" y="146123"/>
            <a:ext cx="6833948" cy="3883394"/>
          </a:xfrm>
          <a:prstGeom prst="rect">
            <a:avLst/>
          </a:prstGeom>
        </p:spPr>
      </p:pic>
      <p:pic>
        <p:nvPicPr>
          <p:cNvPr id="8" name="内容占位符 5">
            <a:extLst>
              <a:ext uri="{FF2B5EF4-FFF2-40B4-BE49-F238E27FC236}">
                <a16:creationId xmlns:a16="http://schemas.microsoft.com/office/drawing/2014/main" id="{A030F57D-67D8-68C9-BE77-0BFADED4FE8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484" r="15296"/>
          <a:stretch>
            <a:fillRect/>
          </a:stretch>
        </p:blipFill>
        <p:spPr>
          <a:xfrm>
            <a:off x="677781" y="1401599"/>
            <a:ext cx="3455808" cy="2516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9234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16B687-6468-7F69-36B1-900D5EDE8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Inverse Kinematics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D086AA5-5656-62BE-BDA2-EC1B534FD3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4336477"/>
            <a:ext cx="10515600" cy="2060308"/>
          </a:xfrm>
          <a:prstGeom prst="rect">
            <a:avLst/>
          </a:prstGeom>
        </p:spPr>
      </p:pic>
      <p:pic>
        <p:nvPicPr>
          <p:cNvPr id="6" name="内容占位符 4">
            <a:extLst>
              <a:ext uri="{FF2B5EF4-FFF2-40B4-BE49-F238E27FC236}">
                <a16:creationId xmlns:a16="http://schemas.microsoft.com/office/drawing/2014/main" id="{3B469840-24C4-4CE4-810C-A2B98378C0B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740" r="4546"/>
          <a:stretch>
            <a:fillRect/>
          </a:stretch>
        </p:blipFill>
        <p:spPr>
          <a:xfrm>
            <a:off x="5358052" y="146123"/>
            <a:ext cx="6833948" cy="3883394"/>
          </a:xfrm>
          <a:prstGeom prst="rect">
            <a:avLst/>
          </a:prstGeom>
        </p:spPr>
      </p:pic>
      <p:pic>
        <p:nvPicPr>
          <p:cNvPr id="7" name="内容占位符 5">
            <a:extLst>
              <a:ext uri="{FF2B5EF4-FFF2-40B4-BE49-F238E27FC236}">
                <a16:creationId xmlns:a16="http://schemas.microsoft.com/office/drawing/2014/main" id="{0AB5E82C-5888-5464-434E-8A6A8859CD2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484" r="15296"/>
          <a:stretch>
            <a:fillRect/>
          </a:stretch>
        </p:blipFill>
        <p:spPr>
          <a:xfrm>
            <a:off x="677781" y="1401599"/>
            <a:ext cx="3455808" cy="2516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4787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F7149F-31C1-00D2-0660-824AEEB0B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22-23 S2 Q3</a:t>
            </a: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08F10010-625A-7603-53FF-87540039BE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734" y="1352485"/>
            <a:ext cx="9663724" cy="5242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003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74F877E-D935-997B-6494-1557DBEBD2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269" b="1316"/>
          <a:stretch>
            <a:fillRect/>
          </a:stretch>
        </p:blipFill>
        <p:spPr>
          <a:xfrm>
            <a:off x="114187" y="129072"/>
            <a:ext cx="9970859" cy="418777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41B3F50-64DB-C3C1-54AC-0D9A76F1BD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805" y="4316851"/>
            <a:ext cx="4725195" cy="2298743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8A8B7044-C6AE-A22D-7573-EE1DF5689EF0}"/>
              </a:ext>
            </a:extLst>
          </p:cNvPr>
          <p:cNvSpPr txBox="1"/>
          <p:nvPr/>
        </p:nvSpPr>
        <p:spPr>
          <a:xfrm>
            <a:off x="5614938" y="4589059"/>
            <a:ext cx="96212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/>
              <a:t>=  x</a:t>
            </a:r>
          </a:p>
          <a:p>
            <a:r>
              <a:rPr lang="en-US" altLang="zh-CN" sz="3600" dirty="0"/>
              <a:t>=  y</a:t>
            </a:r>
          </a:p>
          <a:p>
            <a:r>
              <a:rPr lang="en-US" altLang="zh-CN" sz="3600" dirty="0"/>
              <a:t>=  z</a:t>
            </a:r>
          </a:p>
        </p:txBody>
      </p:sp>
    </p:spTree>
    <p:extLst>
      <p:ext uri="{BB962C8B-B14F-4D97-AF65-F5344CB8AC3E}">
        <p14:creationId xmlns:p14="http://schemas.microsoft.com/office/powerpoint/2010/main" val="4376844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D505C5F-74E6-9912-6923-886E8AC36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Dynamics and Control</a:t>
            </a: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68ED828-7522-E2D4-AF04-0324126809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79585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570BDD-4BE9-89E9-F80A-6FAA4AB78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Dynamics and Control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A7ABA84-E102-5D84-6680-D2265820AA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1447910"/>
            <a:ext cx="6306207" cy="504496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11A448F-FF39-3B81-2AF7-D4ECB27E3D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898108"/>
            <a:ext cx="5878280" cy="388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8394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B19E16-8FAD-BAC9-B15D-A8A499CAC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Dynamic Model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971327-7495-0775-A385-A91E28F1B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55361"/>
          </a:xfrm>
        </p:spPr>
        <p:txBody>
          <a:bodyPr/>
          <a:lstStyle/>
          <a:p>
            <a:r>
              <a:rPr lang="en-US" altLang="zh-CN" dirty="0"/>
              <a:t>For a robot with n degrees of freedom (DOF), its dynamic equations can usually be written as: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CFEC225-27DD-0FC2-F8B9-E94C3011B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622" y="2880986"/>
            <a:ext cx="6332165" cy="105536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9C7273F-681F-E40E-6BBB-73200D6FAB49}"/>
              </a:ext>
            </a:extLst>
          </p:cNvPr>
          <p:cNvSpPr txBox="1"/>
          <p:nvPr/>
        </p:nvSpPr>
        <p:spPr>
          <a:xfrm>
            <a:off x="930057" y="4174391"/>
            <a:ext cx="455634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400" dirty="0"/>
              <a:t>Joint Position Vector</a:t>
            </a:r>
          </a:p>
          <a:p>
            <a:r>
              <a:rPr lang="en-US" altLang="zh-CN" sz="2400" dirty="0"/>
              <a:t>Joint Velocity Vector</a:t>
            </a:r>
          </a:p>
          <a:p>
            <a:r>
              <a:rPr lang="en-US" altLang="zh-CN" sz="2400" dirty="0"/>
              <a:t>Joint Acceleration Vector</a:t>
            </a:r>
          </a:p>
          <a:p>
            <a:r>
              <a:rPr lang="en-US" altLang="zh-CN" sz="2400" dirty="0"/>
              <a:t>Joint Torque/Force Vector</a:t>
            </a:r>
          </a:p>
          <a:p>
            <a:pPr>
              <a:buNone/>
            </a:pPr>
            <a:endParaRPr lang="en-US" altLang="zh-CN" sz="2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10EB3A7-FDE2-468E-AF67-EBA21CF2904F}"/>
              </a:ext>
            </a:extLst>
          </p:cNvPr>
          <p:cNvSpPr txBox="1"/>
          <p:nvPr/>
        </p:nvSpPr>
        <p:spPr>
          <a:xfrm>
            <a:off x="6212910" y="4174391"/>
            <a:ext cx="449353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Mass Matrix</a:t>
            </a:r>
          </a:p>
          <a:p>
            <a:r>
              <a:rPr lang="en-US" altLang="zh-CN" sz="2400" dirty="0"/>
              <a:t>Coriolis/Centrifugal Force Vector</a:t>
            </a:r>
          </a:p>
          <a:p>
            <a:r>
              <a:rPr lang="en-US" altLang="zh-CN" sz="2400" dirty="0"/>
              <a:t>Gravity Vector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831145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A854B9-0E2D-F7E8-1CC0-A8EA8CE90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Computed Torque Control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2554E0C-F151-4782-9C9C-4AC37EF10E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20928"/>
          <a:stretch>
            <a:fillRect/>
          </a:stretch>
        </p:blipFill>
        <p:spPr>
          <a:xfrm>
            <a:off x="537575" y="2412948"/>
            <a:ext cx="10371682" cy="212975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275CF22-80DC-624C-B1C0-1C89B30AD4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310" y="4718378"/>
            <a:ext cx="5615901" cy="142626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EBF30BF-F963-5732-1E5D-75B95074F1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7" y="1524138"/>
            <a:ext cx="6332165" cy="105536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3B90BAA-D24F-4D36-6B2B-DF1275B977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5929" y="5672485"/>
            <a:ext cx="1905540" cy="1129209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33520EF-C863-8F3D-8040-0AC24E540549}"/>
              </a:ext>
            </a:extLst>
          </p:cNvPr>
          <p:cNvSpPr txBox="1"/>
          <p:nvPr/>
        </p:nvSpPr>
        <p:spPr>
          <a:xfrm>
            <a:off x="5291743" y="4718378"/>
            <a:ext cx="609391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Substituting the above control law into the dynamic equation, we get:</a:t>
            </a:r>
          </a:p>
        </p:txBody>
      </p:sp>
    </p:spTree>
    <p:extLst>
      <p:ext uri="{BB962C8B-B14F-4D97-AF65-F5344CB8AC3E}">
        <p14:creationId xmlns:p14="http://schemas.microsoft.com/office/powerpoint/2010/main" val="33182107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9FB940-FEDF-9149-9A67-7D66EE000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Servo Law Design</a:t>
            </a:r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473EE7CF-C925-F680-099B-134CBB5275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8752" y="1478198"/>
            <a:ext cx="7371428" cy="414285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2F67F23-83FD-DA7D-C80F-0AC28CEB5E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409" y="5621055"/>
            <a:ext cx="2687807" cy="58580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7635A17-B6A9-31BF-8D4B-4B7C192EC1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3366" y="4233797"/>
            <a:ext cx="7338634" cy="250033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FB49E17-CDF9-52CE-9687-D5D74D26C4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9655" y="5188724"/>
            <a:ext cx="971429" cy="590476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4384B6E9-63E1-AFC5-0CC2-12495ED582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9655" y="5770950"/>
            <a:ext cx="1104762" cy="4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6587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CAB9E2-AEB4-D202-D80E-D8A38164C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Gain Selection</a:t>
            </a:r>
          </a:p>
        </p:txBody>
      </p:sp>
      <p:pic>
        <p:nvPicPr>
          <p:cNvPr id="14" name="内容占位符 13">
            <a:extLst>
              <a:ext uri="{FF2B5EF4-FFF2-40B4-BE49-F238E27FC236}">
                <a16:creationId xmlns:a16="http://schemas.microsoft.com/office/drawing/2014/main" id="{930CCD14-FF60-1BBC-236E-48650685DF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1538174"/>
            <a:ext cx="7353823" cy="1398579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03727926-53E5-6DFB-C065-B23F76B9B8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6419" y="175693"/>
            <a:ext cx="4485581" cy="2029542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8BC12548-C86A-B46B-405F-0A8C37F7C2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936753"/>
            <a:ext cx="9126089" cy="1181502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F95BFD06-3C86-8D71-87C3-8CCAD3DD6C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9454" y="2794162"/>
            <a:ext cx="2742546" cy="1325563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3BEF77A8-2237-7D7D-6002-ACCC066807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420" y="4262316"/>
            <a:ext cx="10932789" cy="1710857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6B1FADF1-3F47-4F6E-7213-6AA511B84A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6103" y="4849773"/>
            <a:ext cx="5023781" cy="1928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6588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A3CBAD-74D4-E850-5D23-A329706DE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Hybrid Position/Force Control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7C1CC19-04C9-A7B2-3F99-68398E5E71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60051"/>
          <a:stretch>
            <a:fillRect/>
          </a:stretch>
        </p:blipFill>
        <p:spPr>
          <a:xfrm>
            <a:off x="170364" y="1365012"/>
            <a:ext cx="7542319" cy="173831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CCB8437-0423-B02A-86F9-F74CAC6627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572" y="3103324"/>
            <a:ext cx="2155582" cy="99177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A412CBE-4FE1-1F1C-3CB3-F37F5F3440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3833" y="2716533"/>
            <a:ext cx="6418167" cy="158865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1798AA6-EE82-7544-B1E7-0197DBB4E1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4455222"/>
            <a:ext cx="5428571" cy="24000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5993D702-873B-6F4E-2326-1242D36354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469" y="4245128"/>
            <a:ext cx="6300302" cy="126006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CE2234A3-34E7-4D21-4666-E029D1ED9BF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1689" b="10507"/>
          <a:stretch>
            <a:fillRect/>
          </a:stretch>
        </p:blipFill>
        <p:spPr>
          <a:xfrm>
            <a:off x="8517801" y="3623066"/>
            <a:ext cx="1677169" cy="772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0214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41261-7C85-B163-9B0A-0190ADE81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648CF6-353B-DAF0-4381-FDE87D64C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Hybrid Position/Force Control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B260497-315A-087A-FF7B-4FF2C38D50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60051"/>
          <a:stretch>
            <a:fillRect/>
          </a:stretch>
        </p:blipFill>
        <p:spPr>
          <a:xfrm>
            <a:off x="170364" y="1365012"/>
            <a:ext cx="7542319" cy="173831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5833A91-250D-41BA-DF23-76408190AC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572" y="3103324"/>
            <a:ext cx="2155582" cy="99177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B8B3203-88AF-771B-1528-72E30C7AE8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0209" y="3341318"/>
            <a:ext cx="5428571" cy="24000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B081075-AD6A-C5E6-3D99-3C46E1E8DD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572" y="4277525"/>
            <a:ext cx="3542857" cy="14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2303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6444E1-BEF6-D298-C2DF-0FE66C692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summary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64720E6-1380-0B90-5902-D8D971AC5C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123"/>
          <a:stretch>
            <a:fillRect/>
          </a:stretch>
        </p:blipFill>
        <p:spPr>
          <a:xfrm>
            <a:off x="4196064" y="211120"/>
            <a:ext cx="6522736" cy="664688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F8FE1CD7-F11E-1E78-84DF-C30DF0FCCEC1}"/>
              </a:ext>
            </a:extLst>
          </p:cNvPr>
          <p:cNvSpPr/>
          <p:nvPr/>
        </p:nvSpPr>
        <p:spPr>
          <a:xfrm>
            <a:off x="9306838" y="5336088"/>
            <a:ext cx="2046962" cy="1427967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55638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A72862-8F83-BFBD-AB1E-47518CB04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21-22 S2 Q2</a:t>
            </a:r>
            <a:endParaRPr lang="zh-CN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C9B9A85-885C-EE35-23C3-90849E859B3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162" y="1314935"/>
            <a:ext cx="6734460" cy="5753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39951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D5F50CD5-179A-3141-4B8A-C7FEB9CED8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2338" y="347842"/>
            <a:ext cx="6378338" cy="544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8BCE551-ACE8-F7AD-2451-998F1E11B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286" y="174147"/>
            <a:ext cx="6544195" cy="650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0376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4254F39-B578-7273-29D0-62F122FCA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5247354" cy="52197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71D1546-E6D6-832D-6AED-C5ED46B029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1323" y="931993"/>
            <a:ext cx="7814677" cy="167785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D4ED28A-BC54-1E44-7F39-99E1755612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7518" y="3075048"/>
            <a:ext cx="6363196" cy="2346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534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CE65E2B-857B-B4EE-A241-1D4924818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600"/>
            <a:ext cx="5247354" cy="52197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0CE1264-5E08-5E99-6FBE-5810ABADB6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705" t="7715"/>
          <a:stretch>
            <a:fillRect/>
          </a:stretch>
        </p:blipFill>
        <p:spPr>
          <a:xfrm>
            <a:off x="4835046" y="1714499"/>
            <a:ext cx="7482214" cy="4255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8861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AD229-864E-C391-F846-56AA4BCAE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0F578BE-5B8C-C8CA-5F01-7C3EE0C4A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600"/>
            <a:ext cx="5247354" cy="52197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DE18587-D590-72D3-3F96-0B822B6ADA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6514" y="1663098"/>
            <a:ext cx="7465486" cy="4268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5626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570D5-3C2A-1C27-F151-3B1DE8B9B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8DD834F-BDED-7875-1321-2CB3CB5E3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600"/>
            <a:ext cx="5247354" cy="52197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AE46B26-8A87-9EC9-BBA5-9D6501187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429" y="1765300"/>
            <a:ext cx="7428571" cy="39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2220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A541E-AFAF-DD03-CA88-8F58E5568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3837CDF-7ACA-2AA0-A17D-58C31D35A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3738"/>
            <a:ext cx="9568323" cy="496245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015FBCE-8FA2-226C-E75F-2714B8123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95" y="258780"/>
            <a:ext cx="4428571" cy="62857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39D893E-B0CC-3443-2117-6821C8623C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95" y="1002469"/>
            <a:ext cx="4647619" cy="57142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E61074A-C7E7-B25F-3E64-AADF180125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2935" y="545326"/>
            <a:ext cx="4228571" cy="45714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95B5029-BA6B-C8EC-44E6-A76664714A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7518" y="1002469"/>
            <a:ext cx="4896957" cy="1784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2791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613B0-5380-3557-1534-0B5F05923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FC2C7B-1883-678E-A7E0-590A83912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summary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D0808D21-4B56-6C7C-19BA-195BF6AFD9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123"/>
          <a:stretch>
            <a:fillRect/>
          </a:stretch>
        </p:blipFill>
        <p:spPr>
          <a:xfrm>
            <a:off x="4196064" y="211120"/>
            <a:ext cx="6522736" cy="664688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6BD95CED-A602-385A-A710-63B4802297F7}"/>
              </a:ext>
            </a:extLst>
          </p:cNvPr>
          <p:cNvSpPr/>
          <p:nvPr/>
        </p:nvSpPr>
        <p:spPr>
          <a:xfrm>
            <a:off x="9306838" y="5336088"/>
            <a:ext cx="2046962" cy="1427967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3699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D3F160-99E3-FFCE-F3A8-3E32F14BE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23-24 S2 Q2</a:t>
            </a:r>
            <a:endParaRPr lang="zh-CN" alt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67D9AAF-ACD2-1B85-D463-DB4BF1CFC76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69" y="32634"/>
            <a:ext cx="6175331" cy="6825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48340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5D3E1E56-1504-4C98-DA33-A9AF4BA854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0316"/>
            <a:ext cx="5773007" cy="6380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4310D90-F4EA-7A60-6DE5-90F58A3358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245"/>
          <a:stretch>
            <a:fillRect/>
          </a:stretch>
        </p:blipFill>
        <p:spPr>
          <a:xfrm>
            <a:off x="5526277" y="1073824"/>
            <a:ext cx="6423552" cy="346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9490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9C8D3-50FB-E4E5-9586-D87AEBEEF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6DB119B3-14E8-C9DC-956F-7956AF91F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0316"/>
            <a:ext cx="5773007" cy="6380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02C0F3E-F441-C1F3-AAE4-793058404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1359" y="1189973"/>
            <a:ext cx="6450641" cy="321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6939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A286E-6325-975D-8B6A-1ABB203FB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BF5AC31C-9439-08DD-8BA4-8C10B62ED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0316"/>
            <a:ext cx="5773007" cy="6380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CD04B5E-7E49-8D99-B3CC-EEA44525D2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8923" y="878386"/>
            <a:ext cx="6653077" cy="357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8953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30EC4-0B79-D0E6-EA34-73B38072F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CD93BA53-7543-85A9-2CEB-90D20B62D1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0316"/>
            <a:ext cx="5773007" cy="6380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21F5F26-204D-B9E4-38D0-AD2EFEEEF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4082" y="633822"/>
            <a:ext cx="6617918" cy="507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0019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50FA7-6173-4B62-907A-AAFFC1D8F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9912525-F2F3-B7E9-AEE5-86EFB3AF0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03" y="3826510"/>
            <a:ext cx="7405168" cy="269499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165E110-F06C-09B1-4D8F-0FE4FD7BF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803" y="209811"/>
            <a:ext cx="6709512" cy="334837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1E50254-96C3-5745-1466-6A2A3CE2CB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573" y="3020248"/>
            <a:ext cx="4200000" cy="48571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A87ABCB-97C2-BEFF-8E4E-3B13E32C9E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1573" y="3448460"/>
            <a:ext cx="5142857" cy="6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05947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3AF3F9-D7BC-F830-58A3-DD2224677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24-25 s1 q2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14DCE04-44C5-B9DB-95F7-136D7F777A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3878" y="1465218"/>
            <a:ext cx="8578699" cy="526125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3CEA0F8-CABB-66E0-2057-452CA8D59C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5957" y="0"/>
            <a:ext cx="6332165" cy="105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85224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1395F-7B1B-9C80-3534-4A42F1FED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1BFD47BD-A6E5-938B-C096-85034EFCE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578699" cy="526125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0D420C8-1247-AFC3-FE5B-C0E69F07C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5" y="4227429"/>
            <a:ext cx="11984729" cy="237378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27ACC01-34EE-C34B-BFF6-FD1BDADDF5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0457" y="624713"/>
            <a:ext cx="4801543" cy="800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7591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9FB02-A0EC-ED46-7F01-34259E11D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F96B20AD-4C65-C6A9-CE1A-18ED70CDA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578699" cy="526125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FA4261B-E881-9082-479A-5189B2445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71" y="131418"/>
            <a:ext cx="11984729" cy="237378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12C15CA-D064-060F-2D8B-21DE72E5A2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6553" y="131418"/>
            <a:ext cx="4225447" cy="70424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5481422-5640-DF1A-5A45-2DE80579948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4552"/>
          <a:stretch>
            <a:fillRect/>
          </a:stretch>
        </p:blipFill>
        <p:spPr>
          <a:xfrm>
            <a:off x="193115" y="4074363"/>
            <a:ext cx="8662309" cy="2373787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E7ACB37-D6B2-FAB7-1405-D66048966FFF}"/>
              </a:ext>
            </a:extLst>
          </p:cNvPr>
          <p:cNvSpPr/>
          <p:nvPr/>
        </p:nvSpPr>
        <p:spPr>
          <a:xfrm>
            <a:off x="8855424" y="739036"/>
            <a:ext cx="1716543" cy="144049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75111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28EED-1C9F-667C-DD5B-66339F566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7C69BFEF-0B68-A31B-92ED-F1BDB89D6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578699" cy="526125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AAFB555-AD77-E29D-395E-B18E99A568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271" y="131418"/>
            <a:ext cx="11984729" cy="237378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723589C-69C4-519A-02AE-FC786C1A1D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6553" y="131418"/>
            <a:ext cx="4225447" cy="70424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B050175-3B52-F91C-7EBA-CECD9F2933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163" y="4304114"/>
            <a:ext cx="8828571" cy="1914286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A90F6EFF-946D-4A58-D1AC-D0970884B249}"/>
              </a:ext>
            </a:extLst>
          </p:cNvPr>
          <p:cNvSpPr/>
          <p:nvPr/>
        </p:nvSpPr>
        <p:spPr>
          <a:xfrm>
            <a:off x="5273458" y="5599134"/>
            <a:ext cx="450937" cy="6192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495031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B587B-D37E-6A31-664D-1B8424648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82D54F37-D356-4DBB-1CB5-66EF29271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71" y="131418"/>
            <a:ext cx="11984729" cy="237378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3DD4102-BC66-4851-8BE6-6E308AFC3E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6553" y="131418"/>
            <a:ext cx="4225447" cy="70424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690DC4D-C51C-9680-2311-D09EB3E71D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662" y="2379945"/>
            <a:ext cx="11874675" cy="3081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48482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09BA4-7227-F272-ACD0-81C604A5F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303D4F6-BB79-5281-6D97-69590D04E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71" y="131418"/>
            <a:ext cx="11984729" cy="237378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4B01615-6119-A1C0-4404-3089F33B08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6553" y="131418"/>
            <a:ext cx="4225447" cy="704241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EBF06A9-6879-9CB4-E2B0-1FFB080606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714" y="2224224"/>
            <a:ext cx="11028571" cy="425714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0D6A7A1-8C8A-728D-8573-C8C4CF8D84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8856" y="5915266"/>
            <a:ext cx="2914286" cy="7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14957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CDD6B-F784-C9F1-EA94-78497AE1E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4966B9D7-EF6E-2A7A-2F4A-0BDA1B5E1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71" y="131418"/>
            <a:ext cx="11984729" cy="237378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2EAB765-9A5E-27FE-D13D-1C2D2E9B20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6553" y="131418"/>
            <a:ext cx="4225447" cy="70424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93B06DD-032D-DF41-9F17-C1F730048C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428" y="3083899"/>
            <a:ext cx="11057143" cy="104761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78DB529-F374-523A-6194-FE104EC7A2F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47912"/>
          <a:stretch>
            <a:fillRect/>
          </a:stretch>
        </p:blipFill>
        <p:spPr>
          <a:xfrm>
            <a:off x="326008" y="4131518"/>
            <a:ext cx="11114286" cy="232161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2C6511D-5E09-455A-458E-9764C95CC4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2785" y="3489559"/>
            <a:ext cx="2646429" cy="716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1288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A318D-BE15-343A-DCC1-43F55C1D9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503D8095-E4B4-9E5A-5F2D-D0A883E21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71" y="131418"/>
            <a:ext cx="11984729" cy="237378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62FB6AB-D45F-4865-5C81-4CB88A8A4B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6553" y="131418"/>
            <a:ext cx="4225447" cy="704241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4C8994A-C337-F507-933C-7095BD1338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36" y="3211698"/>
            <a:ext cx="12101364" cy="270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7242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AB7BD69-9F9A-7AEF-5872-36B113B085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3692" y="-1"/>
            <a:ext cx="5308308" cy="6858000"/>
          </a:xfrm>
          <a:prstGeom prst="rect">
            <a:avLst/>
          </a:prstGeom>
        </p:spPr>
      </p:pic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5F1BCFD2-4F0A-5CEE-AE2A-71A0B1D72D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76" r="2317"/>
          <a:stretch>
            <a:fillRect/>
          </a:stretch>
        </p:blipFill>
        <p:spPr>
          <a:xfrm>
            <a:off x="150312" y="1"/>
            <a:ext cx="6733380" cy="4613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83941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A712793B-7308-DC5E-B922-02A11B209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42864"/>
            <a:ext cx="9144000" cy="986136"/>
          </a:xfrm>
        </p:spPr>
        <p:txBody>
          <a:bodyPr/>
          <a:lstStyle/>
          <a:p>
            <a:r>
              <a:rPr lang="en-US" altLang="zh-CN" dirty="0"/>
              <a:t>Thank you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25479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1264</TotalTime>
  <Words>893</Words>
  <Application>Microsoft Office PowerPoint</Application>
  <PresentationFormat>宽屏</PresentationFormat>
  <Paragraphs>160</Paragraphs>
  <Slides>59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59</vt:i4>
      </vt:variant>
    </vt:vector>
  </HeadingPairs>
  <TitlesOfParts>
    <vt:vector size="65" baseType="lpstr">
      <vt:lpstr>等线</vt:lpstr>
      <vt:lpstr>等线 Light</vt:lpstr>
      <vt:lpstr>Arial</vt:lpstr>
      <vt:lpstr>Cambria Math</vt:lpstr>
      <vt:lpstr>Times New Roman</vt:lpstr>
      <vt:lpstr>Office 主题​​</vt:lpstr>
      <vt:lpstr>6221 tutor</vt:lpstr>
      <vt:lpstr>Exam overview</vt:lpstr>
      <vt:lpstr>1. kinematics</vt:lpstr>
      <vt:lpstr>Kinematics</vt:lpstr>
      <vt:lpstr>Kinematics – principle</vt:lpstr>
      <vt:lpstr>Kinematics – principle</vt:lpstr>
      <vt:lpstr>Kinematics – principle</vt:lpstr>
      <vt:lpstr>Kinematics – principle</vt:lpstr>
      <vt:lpstr>Kinematics – practise1</vt:lpstr>
      <vt:lpstr>Kinematics – practise1</vt:lpstr>
      <vt:lpstr>Kinematics – practise2</vt:lpstr>
      <vt:lpstr>Kinematics – practise2</vt:lpstr>
      <vt:lpstr>Kinematics – practise3</vt:lpstr>
      <vt:lpstr>Kinematics – practise3</vt:lpstr>
      <vt:lpstr>Kinematics – practise3</vt:lpstr>
      <vt:lpstr>Kinematics – practise3</vt:lpstr>
      <vt:lpstr>Inverse Kinematics</vt:lpstr>
      <vt:lpstr>Inverse Kinematics</vt:lpstr>
      <vt:lpstr>Inverse Kinematics</vt:lpstr>
      <vt:lpstr>Inverse Kinematics</vt:lpstr>
      <vt:lpstr>PowerPoint 演示文稿</vt:lpstr>
      <vt:lpstr>Inverse Kinematics</vt:lpstr>
      <vt:lpstr>Inverse Kinematics</vt:lpstr>
      <vt:lpstr>Inverse Kinematics</vt:lpstr>
      <vt:lpstr>22-23 S2 Q3</vt:lpstr>
      <vt:lpstr>PowerPoint 演示文稿</vt:lpstr>
      <vt:lpstr>2. Dynamics and Control</vt:lpstr>
      <vt:lpstr>Dynamics and Control</vt:lpstr>
      <vt:lpstr>Dynamic Model</vt:lpstr>
      <vt:lpstr>Computed Torque Control</vt:lpstr>
      <vt:lpstr>Servo Law Design</vt:lpstr>
      <vt:lpstr>Gain Selection</vt:lpstr>
      <vt:lpstr>Hybrid Position/Force Control</vt:lpstr>
      <vt:lpstr>Hybrid Position/Force Control</vt:lpstr>
      <vt:lpstr>summary</vt:lpstr>
      <vt:lpstr>21-22 S2 Q2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summary</vt:lpstr>
      <vt:lpstr>23-24 S2 Q2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24-25 s1 q2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月 尹</dc:creator>
  <cp:lastModifiedBy>#YIN YUE#</cp:lastModifiedBy>
  <cp:revision>17</cp:revision>
  <dcterms:created xsi:type="dcterms:W3CDTF">2026-03-15T02:36:01Z</dcterms:created>
  <dcterms:modified xsi:type="dcterms:W3CDTF">2026-05-13T15:45:29Z</dcterms:modified>
</cp:coreProperties>
</file>